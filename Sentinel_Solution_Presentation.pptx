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486400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486400"/>
            <a:ext cx="2926080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5623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39905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29A1E"/>
                </a:solidFill>
                <a:latin typeface="Segoe UI Semibold"/>
              </a:rPr>
              <a:t>SENTINEL // CONTROL 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19659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0" b="1" i="0">
                <a:solidFill>
                  <a:srgbClr val="FFFFFF"/>
                </a:solidFill>
                <a:latin typeface="Bahnschrift SemiBold"/>
              </a:rPr>
              <a:t>SENTINEL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46120"/>
            <a:ext cx="9601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B9C6DA"/>
                </a:solidFill>
                <a:latin typeface="Segoe UI Semilight"/>
              </a:rPr>
              <a:t>An open interoperability and intelligence layer for Gujarat's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B9C6DA"/>
                </a:solidFill>
                <a:latin typeface="Segoe UI Semilight"/>
              </a:rPr>
              <a:t>26-department CCTV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A96A8"/>
                </a:solidFill>
                <a:latin typeface="Segoe UI"/>
              </a:rPr>
              <a:t>Model 1 + Model 2 hybrid  —  Gujarat Police Innovation Challenge 2026, Phase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68756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29A1E"/>
                </a:solidFill>
                <a:latin typeface="Segoe UI Semibold"/>
              </a:rPr>
              <a:t>₹51,00,000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01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63040"/>
            <a:ext cx="82296" cy="676656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463040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463040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The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82296" cy="676656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463040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463040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Model &amp; justification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231136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231136"/>
            <a:ext cx="82296" cy="676656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231136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231136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Solution overview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231136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231136"/>
            <a:ext cx="82296" cy="676656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231136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231136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999232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2999232"/>
            <a:ext cx="82296" cy="676656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2999232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2999232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AI analytics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999232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2999232"/>
            <a:ext cx="82296" cy="676656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2999232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999232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ANPR failure ≠ tracking failure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767328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767328"/>
            <a:ext cx="82296" cy="676656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3767328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3767328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Geo-temporal routing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767328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767328"/>
            <a:ext cx="82296" cy="676656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767328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767328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Watchlist &amp; alerts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535424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535424"/>
            <a:ext cx="82296" cy="676656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4535424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4535424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Security &amp; DPDP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535424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4535424"/>
            <a:ext cx="82296" cy="676656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4535424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4535424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Scalability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303520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5303520"/>
            <a:ext cx="82296" cy="676656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5303520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8760" y="5303520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Test case &amp; benefits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5303520"/>
            <a:ext cx="5394960" cy="676656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5303520"/>
            <a:ext cx="82296" cy="676656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3952" y="5303520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EEF5"/>
                </a:solidFill>
                <a:latin typeface="Bahnschrift SemiBold"/>
              </a:rPr>
              <a:t>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5303520"/>
            <a:ext cx="40233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Honest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26 departments. No shared intelligence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02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2F7AF2"/>
                </a:solidFill>
                <a:latin typeface="Bahnschrift SemiBold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Departments,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independent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508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2F7AF2"/>
                </a:solidFill>
                <a:latin typeface="Bahnschrift SemiBold"/>
              </a:rPr>
              <a:t>~80,000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688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Cameras statewide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508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3736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2F7AF2"/>
                </a:solidFill>
                <a:latin typeface="Bahnschrift SemiBold"/>
              </a:rPr>
              <a:t>7–15+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688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Days retention,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varies by department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508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73736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9A1E"/>
                </a:solidFill>
                <a:latin typeface="Bahnschrift SemiBold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46888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Unified cross-reference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7D3E3"/>
                </a:solidFill>
                <a:latin typeface="Segoe UI"/>
              </a:rPr>
              <a:t>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D1628"/>
                </a:solidFill>
                <a:latin typeface="Segoe UI Semibold"/>
              </a:rPr>
              <a:t>Mandatory live test 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2014423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60520"/>
            <a:ext cx="201442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Onboard ~50 cameras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27655" y="4160520"/>
            <a:ext cx="1537106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7655" y="4160520"/>
            <a:ext cx="15371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Track a plate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9353" y="4160520"/>
            <a:ext cx="1855317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9353" y="4160520"/>
            <a:ext cx="185531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Timestamped route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9262" y="4160520"/>
            <a:ext cx="2173528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9262" y="4160520"/>
            <a:ext cx="21735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Watchlist cross-check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87382" y="4160520"/>
            <a:ext cx="1696212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7382" y="4160520"/>
            <a:ext cx="16962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Real-time alert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We extend what exists — we don't replace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03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2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10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04A4A"/>
                </a:solidFill>
                <a:latin typeface="Segoe UI Semibold"/>
              </a:rPr>
              <a:t>NOT the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E04A4A"/>
                </a:solidFill>
                <a:latin typeface="Segoe UI"/>
              </a:rPr>
              <a:t>—  </a:t>
            </a:r>
            <a:r>
              <a:rPr sz="1400">
                <a:solidFill>
                  <a:srgbClr val="EEC9C9"/>
                </a:solidFill>
                <a:latin typeface="Segoe UI"/>
              </a:rPr>
              <a:t>“We built Gujarat's CCTV platform”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E04A4A"/>
                </a:solidFill>
                <a:latin typeface="Segoe UI"/>
              </a:rPr>
              <a:t>—  </a:t>
            </a:r>
            <a:r>
              <a:rPr sz="1400">
                <a:solidFill>
                  <a:srgbClr val="EEC9C9"/>
                </a:solidFill>
                <a:latin typeface="Segoe UI"/>
              </a:rPr>
              <a:t>Inventing ANPR or cross-camera tracking (already Staqu, Videonetics, Vehant)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554480"/>
            <a:ext cx="5532120" cy="2834640"/>
          </a:xfrm>
          <a:prstGeom prst="roundRect">
            <a:avLst>
              <a:gd name="adj" fmla="val 8000"/>
            </a:avLst>
          </a:prstGeom>
          <a:solidFill>
            <a:srgbClr val="0E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105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C9B7"/>
                </a:solidFill>
                <a:latin typeface="Segoe UI Semibold"/>
              </a:rPr>
              <a:t>THE actual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1EC9B7"/>
                </a:solidFill>
                <a:latin typeface="Segoe UI"/>
              </a:rPr>
              <a:t>—  </a:t>
            </a:r>
            <a:r>
              <a:rPr sz="1400">
                <a:solidFill>
                  <a:srgbClr val="C9E9DE"/>
                </a:solidFill>
                <a:latin typeface="Segoe UI"/>
              </a:rPr>
              <a:t>An intelligence layer above VISWAS / TRINETRA / NETRAM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1EC9B7"/>
                </a:solidFill>
                <a:latin typeface="Segoe UI"/>
              </a:rPr>
              <a:t>—  </a:t>
            </a:r>
            <a:r>
              <a:rPr sz="1400">
                <a:solidFill>
                  <a:srgbClr val="C9E9DE"/>
                </a:solidFill>
                <a:latin typeface="Segoe UI"/>
              </a:rPr>
              <a:t>A genuinely open, explainable identity-resolution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616E82"/>
                </a:solidFill>
                <a:latin typeface="Segoe UI Semilight"/>
              </a:rPr>
              <a:t>Gujarat already runs VISWAS/NETRAM/TRINETRA at 7,000+ cameras across 34 district centres. A jury with that knowledge asks “what did you invent?” — honesty here is the stronger pitch, and it is exactly what the bonus criterion for “innovative hybrid architecture” rewards.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SOLUTION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Model 1 + Model 2 — with a documented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04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F7AF2"/>
                </a:solidFill>
                <a:latin typeface="Bahnschrift SemiBold"/>
              </a:rP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3694176" y="1819656"/>
            <a:ext cx="201168" cy="201168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060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Registry &amp; GIS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 Semilight"/>
              </a:rPr>
              <a:t>Mandatory foundation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087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F7AF2"/>
                </a:solidFill>
                <a:latin typeface="Bahnschrift SemiBold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7443216" y="1819656"/>
            <a:ext cx="201168" cy="201168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060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Unified Viewing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461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 Semilight"/>
              </a:rPr>
              <a:t>Direct integration, no middleware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087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737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EEF5"/>
                </a:solidFill>
                <a:latin typeface="Bahnschrift SemiBold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11192256" y="1819656"/>
            <a:ext cx="201168" cy="201168"/>
          </a:xfrm>
          <a:prstGeom prst="ellipse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6060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11827"/>
                </a:solidFill>
                <a:latin typeface="Segoe UI Semibold"/>
              </a:rPr>
              <a:t>Federation → Central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461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16E82"/>
                </a:solidFill>
                <a:latin typeface="Segoe UI Semilight"/>
              </a:rPr>
              <a:t>Documented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616E82"/>
                </a:solidFill>
                <a:latin typeface="Segoe UI Semilight"/>
              </a:rPr>
              <a:t>“Combine two or more models” is the problem statement's own definition of a hybrid — we claim credit only for what is built and verified; Model 3/4 stays a documented roadmap.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SOLUTION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The genuine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05 /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16E82"/>
                </a:solidFill>
                <a:latin typeface="Segoe UI Semilight"/>
              </a:rPr>
              <a:t>A persistent vehicle identity built from uncertain evidence — every cross-camera link explains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4884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386584"/>
            <a:ext cx="502920" cy="502920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35000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ANPR ≠ tracking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07208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Unreadable plate still tracked by appearance; upgraded the moment any camera reads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2386584"/>
            <a:ext cx="502920" cy="502920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35000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Observed vs. inferred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807208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Route gaps are filled honestly — never shown as confirmed fact.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" y="4352544"/>
            <a:ext cx="502920" cy="502920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352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159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Governed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773168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Every watchlist hit is a live, attributable investigation item.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148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9672" y="4352544"/>
            <a:ext cx="502920" cy="502920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352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159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“Why linked?”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773168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Every match shows its score — a transparency aid, not a black 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Bahnschrift SemiBold"/>
              </a:rPr>
              <a:t>One flow, today and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06 /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81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2A16B"/>
                </a:solidFill>
                <a:latin typeface="Segoe UI Semibold"/>
              </a:rPr>
              <a:t>PILOT — BUILT &amp; VERIFIED</a:t>
            </a:r>
          </a:p>
        </p:txBody>
      </p:sp>
      <p:sp>
        <p:nvSpPr>
          <p:cNvPr id="13" name="Terminator 12"/>
          <p:cNvSpPr/>
          <p:nvPr/>
        </p:nvSpPr>
        <p:spPr>
          <a:xfrm>
            <a:off x="548640" y="1691640"/>
            <a:ext cx="1481328" cy="914400"/>
          </a:xfrm>
          <a:prstGeom prst="flowChartTerminator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Departments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29968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cess 14"/>
          <p:cNvSpPr/>
          <p:nvPr/>
        </p:nvSpPr>
        <p:spPr>
          <a:xfrm>
            <a:off x="2465222" y="1691640"/>
            <a:ext cx="1481328" cy="914400"/>
          </a:xfrm>
          <a:prstGeom prst="flowChartProcess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Catalogue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46550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 16"/>
          <p:cNvSpPr/>
          <p:nvPr/>
        </p:nvSpPr>
        <p:spPr>
          <a:xfrm>
            <a:off x="4381804" y="1691640"/>
            <a:ext cx="1481328" cy="914400"/>
          </a:xfrm>
          <a:prstGeom prst="flowChartProcess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Stream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Manager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63132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edefined Process 18"/>
          <p:cNvSpPr/>
          <p:nvPr/>
        </p:nvSpPr>
        <p:spPr>
          <a:xfrm>
            <a:off x="6298386" y="1691640"/>
            <a:ext cx="1481328" cy="914400"/>
          </a:xfrm>
          <a:prstGeom prst="flowChartPredefinedProcess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AI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Pipeline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9714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agnetic Disk 20"/>
          <p:cNvSpPr/>
          <p:nvPr/>
        </p:nvSpPr>
        <p:spPr>
          <a:xfrm>
            <a:off x="8214968" y="1691640"/>
            <a:ext cx="1481328" cy="914400"/>
          </a:xfrm>
          <a:prstGeom prst="flowChartMagneticDisk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Event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Store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96296" y="2148840"/>
            <a:ext cx="435254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splay 22"/>
          <p:cNvSpPr/>
          <p:nvPr/>
        </p:nvSpPr>
        <p:spPr>
          <a:xfrm>
            <a:off x="10131550" y="1691640"/>
            <a:ext cx="1481328" cy="914400"/>
          </a:xfrm>
          <a:prstGeom prst="flowChartDisplay">
            <a:avLst/>
          </a:prstGeom>
          <a:solidFill>
            <a:srgbClr val="0D1628"/>
          </a:solidFill>
          <a:ln w="19050">
            <a:solidFill>
              <a:srgbClr val="2F7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API +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A93A3"/>
                </a:solidFill>
                <a:latin typeface="Segoe UI Semibold"/>
              </a:rPr>
              <a:t>PRODUCTION ROADMAP — DOCUMENTED, NOT BUILT THIS WEEK</a:t>
            </a:r>
          </a:p>
        </p:txBody>
      </p:sp>
      <p:sp>
        <p:nvSpPr>
          <p:cNvPr id="25" name="Cloud 24"/>
          <p:cNvSpPr/>
          <p:nvPr/>
        </p:nvSpPr>
        <p:spPr>
          <a:xfrm>
            <a:off x="548640" y="3794760"/>
            <a:ext cx="2468880" cy="914400"/>
          </a:xfrm>
          <a:prstGeom prst="cloud">
            <a:avLst/>
          </a:prstGeom>
          <a:solidFill>
            <a:srgbClr val="F4F6FA"/>
          </a:solidFill>
          <a:ln w="1587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Regional</a:t>
            </a:r>
          </a:p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Media Fabric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4251960"/>
            <a:ext cx="396240" cy="0"/>
          </a:xfrm>
          <a:prstGeom prst="line">
            <a:avLst/>
          </a:prstGeom>
          <a:ln w="19050">
            <a:solidFill>
              <a:srgbClr val="8A93A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loud 26"/>
          <p:cNvSpPr/>
          <p:nvPr/>
        </p:nvSpPr>
        <p:spPr>
          <a:xfrm>
            <a:off x="3413760" y="3794760"/>
            <a:ext cx="2468880" cy="914400"/>
          </a:xfrm>
          <a:prstGeom prst="cloud">
            <a:avLst/>
          </a:prstGeom>
          <a:solidFill>
            <a:srgbClr val="F4F6FA"/>
          </a:solidFill>
          <a:ln w="1587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Kafka</a:t>
            </a:r>
          </a:p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Event Bus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82640" y="4251960"/>
            <a:ext cx="396240" cy="0"/>
          </a:xfrm>
          <a:prstGeom prst="line">
            <a:avLst/>
          </a:prstGeom>
          <a:ln w="19050">
            <a:solidFill>
              <a:srgbClr val="8A93A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loud 28"/>
          <p:cNvSpPr/>
          <p:nvPr/>
        </p:nvSpPr>
        <p:spPr>
          <a:xfrm>
            <a:off x="6278880" y="3794760"/>
            <a:ext cx="2468880" cy="914400"/>
          </a:xfrm>
          <a:prstGeom prst="cloud">
            <a:avLst/>
          </a:prstGeom>
          <a:solidFill>
            <a:srgbClr val="F4F6FA"/>
          </a:solidFill>
          <a:ln w="1587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Govt DBs</a:t>
            </a:r>
          </a:p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(query, don't copy)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47760" y="4251960"/>
            <a:ext cx="396240" cy="0"/>
          </a:xfrm>
          <a:prstGeom prst="line">
            <a:avLst/>
          </a:prstGeom>
          <a:ln w="19050">
            <a:solidFill>
              <a:srgbClr val="8A93A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loud 30"/>
          <p:cNvSpPr/>
          <p:nvPr/>
        </p:nvSpPr>
        <p:spPr>
          <a:xfrm>
            <a:off x="9144000" y="3794760"/>
            <a:ext cx="2468880" cy="914400"/>
          </a:xfrm>
          <a:prstGeom prst="cloud">
            <a:avLst/>
          </a:prstGeom>
          <a:solidFill>
            <a:srgbClr val="F4F6FA"/>
          </a:solidFill>
          <a:ln w="1587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Governance</a:t>
            </a:r>
          </a:p>
          <a:p>
            <a:pPr algn="ctr"/>
            <a:r>
              <a:rPr sz="1100" b="1">
                <a:solidFill>
                  <a:srgbClr val="616E82"/>
                </a:solidFill>
                <a:latin typeface="Segoe UI Semibold"/>
              </a:rPr>
              <a:t>Plane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28800" y="2656840"/>
            <a:ext cx="0" cy="1087120"/>
          </a:xfrm>
          <a:prstGeom prst="line">
            <a:avLst/>
          </a:prstGeom>
          <a:ln w="15875">
            <a:solidFill>
              <a:srgbClr val="8A93A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1">
                <a:solidFill>
                  <a:srgbClr val="616E82"/>
                </a:solidFill>
                <a:latin typeface="Segoe UI Semilight"/>
              </a:rPr>
              <a:t>Core principle: centralize metadata, events, identity, and governance — not every raw video frame.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1">
                <a:solidFill>
                  <a:srgbClr val="616E82"/>
                </a:solidFill>
                <a:latin typeface="Segoe UI Semilight"/>
              </a:rPr>
              <a:t>80,000 cameras of raw video ≈ 160 Gbps sustained. Structured events instead ≈ 640 Mbps.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Built to the sandbox's own rulebook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07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2821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TCP-forced RTSP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Never UDP — avoids corrupt frames across NAT/firewalls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150876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6704" y="150876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72821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PTS-driven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37744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CAP_PROP_FPS is never trusted for velocity/dwell math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50876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50876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72821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Backoff reconnect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37744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2s → 30s cap, never a tight retry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150876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150876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172821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Discontinuity-aware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237744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Recording loop points reset tracker state, not corrupt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6118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61188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313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Catalogue-only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No hardcoded camera URLs — IDs can change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46704" y="36118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46704" y="361188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38313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ONVIF-targeted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584" y="448056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Vendor-neutral standard for real heterogeneous cameras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36118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44768" y="361188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38313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One clock authority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48056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Cross-camera timing never assumes NTP-synced legacy cameras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42832" y="36118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42832" y="3611880"/>
            <a:ext cx="2679192" cy="6400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3831336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Department tagging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5712" y="4480560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16E82"/>
                </a:solidFill>
                <a:latin typeface="Segoe UI Semilight"/>
              </a:rPr>
              <a:t>Bulk, manual, and API onboarding, protocol-independent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AI VIDEO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Bahnschrift SemiBold"/>
              </a:rPr>
              <a:t>Detection through cross-camera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08 / 20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YOLOv8n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19656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25624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F2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Locate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1888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Heuristic crop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22904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928872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Enhance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5136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CLAHE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6152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532120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PaddleOCR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9400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35368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1632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ByteTrack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32648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738616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F2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Re-ID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4880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Colour hist.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35896" y="2377440"/>
            <a:ext cx="505968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341864" y="1828800"/>
            <a:ext cx="1097280" cy="1097280"/>
          </a:xfrm>
          <a:prstGeom prst="ellipse">
            <a:avLst/>
          </a:prstGeom>
          <a:solidFill>
            <a:srgbClr val="0D1628"/>
          </a:solidFill>
          <a:ln w="28575">
            <a:solidFill>
              <a:srgbClr val="12A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Identity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128" y="3035808"/>
            <a:ext cx="1444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16E82"/>
                </a:solidFill>
                <a:latin typeface="Segoe UI Semilight"/>
              </a:rPr>
              <a:t>Plate-first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447288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4107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Verified</a:t>
            </a:r>
          </a:p>
        </p:txBody>
      </p:sp>
      <p:sp>
        <p:nvSpPr>
          <p:cNvPr id="34" name="Oval 33"/>
          <p:cNvSpPr/>
          <p:nvPr/>
        </p:nvSpPr>
        <p:spPr>
          <a:xfrm>
            <a:off x="1920240" y="3447288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34107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Segoe UI Semibold"/>
              </a:rPr>
              <a:t>Also captured per sighting: colour, type, dimensions, dwell/speed/direction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16E82"/>
                </a:solidFill>
                <a:latin typeface="Segoe UI Semilight"/>
              </a:rPr>
              <a:t>Not built: make/model classification — no open-source Indian-market model exists; stated, not faked.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A5500"/>
                </a:solidFill>
                <a:latin typeface="Segoe UI Semilight"/>
              </a:rPr>
              <a:t>Real-world caveat: OCR is verified on clean synthetic plate text. Real Indian-plate footage accuracy is the single most jury-visible unmeasured number.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CORE DIFFERENTIATOR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ANPR failure ≠ tracking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09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6002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1783079"/>
            <a:ext cx="182880" cy="18288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1755648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Camera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860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16E82"/>
                </a:solidFill>
                <a:latin typeface="Segoe UI Semibold"/>
              </a:rPr>
              <a:t>Plate unreadable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Logged by colour + type + appearance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4231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F7AF2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6002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1783079"/>
            <a:ext cx="182880" cy="182880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1755648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Camera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2860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616E82"/>
                </a:solidFill>
                <a:latin typeface="Segoe UI Semibold"/>
              </a:rPr>
              <a:t>Plate unreadable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Logged by colour + type + appearance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24231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F7AF2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6002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0E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20" y="1783079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1755648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Camera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860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C9B7"/>
                </a:solidFill>
                <a:latin typeface="Segoe UI Semibold"/>
              </a:rPr>
              <a:t>GJ01AB1234 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C9E9DE"/>
                </a:solidFill>
                <a:latin typeface="Segoe UI Semilight"/>
              </a:rPr>
              <a:t>Whole chain resolves — retroactively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 i="0">
                <a:solidFill>
                  <a:srgbClr val="111827"/>
                </a:solidFill>
                <a:latin typeface="Segoe UI Semilight"/>
              </a:rPr>
              <a:t>Verified with a real, non-mocked scenario: two unreadable plates, one successful read — all three sightings merge into one identity, including the two anonymous 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BONUS DIFFERENTIATOR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Observed vs. inferred — never conflated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10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8288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2048256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cam01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5059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EC9B7"/>
                </a:solidFill>
                <a:latin typeface="Segoe UI Semilight"/>
              </a:rPr>
              <a:t>OBSERVED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4288" y="2359152"/>
            <a:ext cx="411480" cy="0"/>
          </a:xfrm>
          <a:prstGeom prst="line">
            <a:avLst/>
          </a:prstGeom>
          <a:ln w="19050">
            <a:solidFill>
              <a:srgbClr val="8A9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1993392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F2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0665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29A1E"/>
                </a:solidFill>
                <a:latin typeface="Segoe UI Semibold"/>
              </a:rPr>
              <a:t>INFERRED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3408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16E82"/>
                </a:solidFill>
                <a:latin typeface="Segoe UI Semilight"/>
              </a:rPr>
              <a:t>plausible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53128" y="2359152"/>
            <a:ext cx="411480" cy="0"/>
          </a:xfrm>
          <a:prstGeom prst="line">
            <a:avLst/>
          </a:prstGeom>
          <a:ln w="19050">
            <a:solidFill>
              <a:srgbClr val="8A9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92040" y="18288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38928" y="2048256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01168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cam03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45059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EC9B7"/>
                </a:solidFill>
                <a:latin typeface="Segoe UI Semilight"/>
              </a:rPr>
              <a:t>OBSERVED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01968" y="2359152"/>
            <a:ext cx="411480" cy="0"/>
          </a:xfrm>
          <a:prstGeom prst="line">
            <a:avLst/>
          </a:prstGeom>
          <a:ln w="19050">
            <a:solidFill>
              <a:srgbClr val="8A9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40880" y="1993392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E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0665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04A4A"/>
                </a:solidFill>
                <a:latin typeface="Segoe UI Semibold"/>
              </a:rPr>
              <a:t>INFERRED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3408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16E82"/>
                </a:solidFill>
                <a:latin typeface="Segoe UI Semilight"/>
              </a:rPr>
              <a:t>not direct — flagged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50808" y="2359152"/>
            <a:ext cx="411480" cy="0"/>
          </a:xfrm>
          <a:prstGeom prst="line">
            <a:avLst/>
          </a:prstGeom>
          <a:ln w="19050">
            <a:solidFill>
              <a:srgbClr val="8A96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89720" y="18288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36608" y="2048256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01168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cam05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45059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EC9B7"/>
                </a:solidFill>
                <a:latin typeface="Segoe UI Semilight"/>
              </a:rPr>
              <a:t>OBSERVED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246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616E82"/>
                </a:solidFill>
                <a:latin typeface="Segoe UI Semilight"/>
              </a:rPr>
              <a:t>Straight-line distance + time-gap feasibility between confirmed sightings — a lead, never presented as fact. A high implied speed flags “not a direct drive.”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D1628"/>
                </a:solidFill>
                <a:latin typeface="Segoe UI Semibold"/>
              </a:rPr>
              <a:t>Deliberately roadmap, not built: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00">
                <a:solidFill>
                  <a:srgbClr val="616E82"/>
                </a:solidFill>
                <a:latin typeface="Segoe UI Semilight"/>
              </a:rPr>
              <a:t>Road-network (OSM) routing — Gujarat's minor-road coverage is incomplete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00">
                <a:solidFill>
                  <a:srgbClr val="616E82"/>
                </a:solidFill>
                <a:latin typeface="Segoe UI Semilight"/>
              </a:rPr>
              <a:t>Predictive next-camera pruning — 80k-scale value, not observable at a 50-camera pilot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WATCHLIST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A lead, not a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11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6916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38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NEW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2075688"/>
            <a:ext cx="502920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11880" y="16916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938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ACKNOWLEDGED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2075688"/>
            <a:ext cx="502920" cy="0"/>
          </a:xfrm>
          <a:prstGeom prst="line">
            <a:avLst/>
          </a:prstGeom>
          <a:ln w="28575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46520" y="16916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0E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38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RESOLVED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288036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2A1414"/>
          </a:solidFill>
          <a:ln w="15875">
            <a:solidFill>
              <a:srgbClr val="E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13639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04A4A"/>
                </a:solidFill>
                <a:latin typeface="Segoe UI Semibold"/>
              </a:rPr>
              <a:t>DISMISSED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2468880"/>
            <a:ext cx="2834640" cy="411480"/>
          </a:xfrm>
          <a:prstGeom prst="line">
            <a:avLst/>
          </a:prstGeom>
          <a:ln w="19050">
            <a:solidFill>
              <a:srgbClr val="E04A4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3611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D1628"/>
                </a:solidFill>
                <a:latin typeface="Segoe UI Semibold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Watchlist match → alert, instantly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Only server-declared transitions are legal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Every move records who, and 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6118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D1628"/>
                </a:solidFill>
                <a:latin typeface="Segoe UI Semibold"/>
              </a:rPr>
              <a:t>“Why was this linked?”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023360"/>
            <a:ext cx="5349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Plate 50% / appearance 35% / recency 15%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A transparency aid, not a calibrated probability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50">
                <a:solidFill>
                  <a:srgbClr val="111827"/>
                </a:solidFill>
                <a:latin typeface="Segoe UI Semilight"/>
              </a:rPr>
              <a:t>Low-confidence links are never equal-weighted with a confirmed hit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Security, RBAC &amp; DPDP-aligned posture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12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169164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Real 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860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Genuine 401/403 — not decoration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50876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173736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8" y="169164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No face recognition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2860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Deliberate — DPDP risk + documented bias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0876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20" y="173736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169164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Purpose-bound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860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Every query logs user, purpose, 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5468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338328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4168" y="333756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Data minimization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319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No face embeddings, anywhere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15468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26280" y="338328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333756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Enforced retention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9319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Purges in code, not policy-on-paper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154680"/>
            <a:ext cx="361188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5320" y="3383280"/>
            <a:ext cx="384048" cy="384048"/>
          </a:xfrm>
          <a:prstGeom prst="ellipse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333756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Found &amp; fixed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9319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16E82"/>
                </a:solidFill>
                <a:latin typeface="Segoe UI Semilight"/>
              </a:rPr>
              <a:t>SSRF gap closed during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16E82"/>
                </a:solidFill>
                <a:latin typeface="Segoe UI Semilight"/>
              </a:rPr>
              <a:t>DPDP §17 exempts law-enforcement processing — designed as if the Act's substantive obligations apply anyway.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Open source, end to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13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2679192" cy="50292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36776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Backend &amp;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40280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FastAPI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62072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62072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SQLAlchemy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83864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83864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PostgreSQL / PostGIS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6704" y="15087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1508760"/>
            <a:ext cx="2679192" cy="50292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6704" y="1636776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Computer vision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9584" y="2240280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240280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OpenCV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9584" y="2862072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9584" y="2862072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YOLOv8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9584" y="3483864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9584" y="3483864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PaddleOCR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9584" y="4105656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9584" y="4105656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ByteTrack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15087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1508760"/>
            <a:ext cx="2679192" cy="50292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1636776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Frontend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2240280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2240280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React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2862072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862072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Leaflet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7648" y="3483864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3483864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Segoe UI Semibold"/>
              </a:rPr>
              <a:t>hls.js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42832" y="15087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42832" y="1508760"/>
            <a:ext cx="2679192" cy="502920"/>
          </a:xfrm>
          <a:prstGeom prst="rect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42832" y="1636776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Roadmap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5712" y="2240280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2" y="2240280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 Semibold"/>
              </a:rPr>
              <a:t>Kafka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25712" y="2862072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25712" y="2862072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 Semibold"/>
              </a:rPr>
              <a:t>MediaMTX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25712" y="3483864"/>
            <a:ext cx="2313432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25712" y="3483864"/>
            <a:ext cx="23134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 Semibold"/>
              </a:rPr>
              <a:t>pgvector / Milvus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16E82"/>
                </a:solidFill>
                <a:latin typeface="Segoe UI Semilight"/>
              </a:rPr>
              <a:t>Meets the hackathon's Open Source Requirement in full.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~30-camera pilot → ~80,000 statewide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14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09928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2F7AF2"/>
                </a:solidFill>
                <a:latin typeface="Bahnschrift SemiBold"/>
              </a:rPr>
              <a:t>~4,000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774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GPU-class edge units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at full build-out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508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709928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29A1E"/>
                </a:solidFill>
                <a:latin typeface="Bahnschrift SemiBold"/>
              </a:rPr>
              <a:t>640 Mbps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774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Structured events —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not 160 Gbps raw video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508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09928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2F7AF2"/>
                </a:solidFill>
                <a:latin typeface="Bahnschrift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3774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Storage tiers: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hot / warm / cold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508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709928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2F7AF2"/>
                </a:solidFill>
                <a:latin typeface="Bahnschrift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3774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Phased rollout stages,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7D3E3"/>
                </a:solidFill>
                <a:latin typeface="Segoe UI Semilight"/>
              </a:rPr>
              <a:t>same codebase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747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4BC4"/>
                </a:solidFill>
                <a:latin typeface="Segoe UI Semibold"/>
              </a:rPr>
              <a:t>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2336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RTSP + inference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60520" y="4069080"/>
            <a:ext cx="137160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97680" y="34747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6393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4BC4"/>
                </a:solidFill>
                <a:latin typeface="Segoe UI Semibold"/>
              </a:rPr>
              <a:t>Regional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02336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Re-ID, media relay — NETRAM-aligned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9560" y="4069080"/>
            <a:ext cx="137160" cy="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46720" y="34747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6393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4BC4"/>
                </a:solidFill>
                <a:latin typeface="Segoe UI Semibold"/>
              </a:rPr>
              <a:t>Central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02336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16E82"/>
                </a:solidFill>
                <a:latin typeface="Segoe UI Semilight"/>
              </a:rPr>
              <a:t>Identity correlation, watchlist, RBAC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616E82"/>
                </a:solidFill>
                <a:latin typeface="Segoe UI Semilight"/>
              </a:rPr>
              <a:t>Same codebase at every phase — pilot, district, regional, statewide. Nothing here is a throwaway demo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EVALUATION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Live test case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15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18059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5087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Onboard ~50 cameras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5087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7992" y="18059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5087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Track by plate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5087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38744" y="18059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8784" y="15087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Timestamped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4231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27203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4231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Watchlist cross-check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4231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07992" y="27203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24231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Real-time alert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24231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38744" y="2720340"/>
            <a:ext cx="182880" cy="182880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8784" y="24231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Continuity w/o plate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33756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7240" y="3634740"/>
            <a:ext cx="182880" cy="182880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337560"/>
            <a:ext cx="28620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Real-footage OCR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2A16B"/>
                </a:solidFill>
                <a:latin typeface="Segoe UI Semibold"/>
              </a:rPr>
              <a:t>Sandbox connectivity fixed &amp; confirmed 2026-09-04 — all 30 real cameras reachable end-to-end.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OPERATIONAL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Who this helps, and 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16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3611880" cy="54864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4592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Investigators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86000"/>
            <a:ext cx="3063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One search, even with bad reads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See why a link was made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Defensible in court, not just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50876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508760"/>
            <a:ext cx="3611880" cy="54864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64592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86000"/>
            <a:ext cx="3063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Live GIS + gap analysis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Auditable alert lifecycle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Cross-camera route 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0876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508760"/>
            <a:ext cx="3611880" cy="548640"/>
          </a:xfrm>
          <a:prstGeom prst="rect">
            <a:avLst/>
          </a:prstGeom>
          <a:solidFill>
            <a:srgbClr val="18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64592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286000"/>
            <a:ext cx="3063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Retention enforced in code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Hashed credentials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300" b="1">
                <a:solidFill>
                  <a:srgbClr val="2F7AF2"/>
                </a:solidFill>
                <a:latin typeface="Segoe UI Semilight"/>
              </a:rPr>
              <a:t>—  </a:t>
            </a:r>
            <a:r>
              <a:rPr sz="1300">
                <a:solidFill>
                  <a:srgbClr val="111827"/>
                </a:solidFill>
                <a:latin typeface="Segoe UI Semilight"/>
              </a:rPr>
              <a:t>No face recognition, by 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HONEST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Stated, not hidden —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17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08760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50876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Face recognition — deliberate exclusion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50876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Full 80k-camera physical ingestion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496312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96312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49631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Real VMS federation middleware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96312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496312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49631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WHEP low-latency preview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83864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83864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48386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Real Indian-plate OCR accuracy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483864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483864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48386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Department-scoped RBAC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71416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71416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471416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Indian-specific detector — evaluated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71416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471416"/>
            <a:ext cx="82296" cy="86868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471416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Segoe UI"/>
              </a:rPr>
              <a:t>Road-network routing &amp; pruning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Sources behind the claims in this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18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54480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27632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Gujarat Police Sentinel — official problem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627632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sentinel.gujarat.gov.in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212848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286000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VISWAS / NETRAM / TRINETRA scale (7,000+ cameras, 34 district centres)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28600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Gujarat Home Dept. public statements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71216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871216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944368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Commercial ANPR/tracking precedent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944368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Staqu JARVIS, Videonetics, Vehant, Innefu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9584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9584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02736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Field ANPR accuracy vs. lab benchmarks (71% misread rate cited)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602736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Business Insider / Gizmodo, Aug 2026; Davis Vanguard, Aug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87952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187952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61104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Indian-traffic detector benchmark, evaluated not integrated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261104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IISc AI for Integrated Mobility — UVH-26, arXiv 2511.02563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4632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19472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Data-protection design posture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919472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Digital Personal Data Protection Act, 2023 — Section 17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04688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504688"/>
            <a:ext cx="64008" cy="566928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577840"/>
            <a:ext cx="6949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UK National ANPR retention precedent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57784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616E82"/>
                </a:solidFill>
                <a:latin typeface="Segoe UI Semilight"/>
              </a:rPr>
              <a:t>cited in RESEARCH_EXISTING_SYSTEMS.md §6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3620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616E82"/>
                </a:solidFill>
                <a:latin typeface="Segoe UI Semilight"/>
              </a:rPr>
              <a:t>Full citation detail and dated URLs: sentinel-solution/HLD.md and RESEARCH_EXISTING_SYSTEMS.md.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349240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349240"/>
            <a:ext cx="2926080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5623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39905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Bahnschrift SemiBold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7889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50" b="0" i="0">
                <a:solidFill>
                  <a:srgbClr val="B9C6DA"/>
                </a:solidFill>
                <a:latin typeface="Segoe UI Semilight"/>
              </a:rPr>
              <a:t>An honest, verified, open-source layer — built to extend Gujarat's CCTV infrastructure, not replace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319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HLD + Scalability Strategy submitted alongside this deck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Own-feed and government-feed demo videos per §9.3/§9.4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Every claim traces to verified, runnable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5046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A96A8"/>
                </a:solidFill>
                <a:latin typeface="Segoe UI"/>
              </a:rPr>
              <a:t>SENTINEL // Gujarat Police Innovation Challenge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