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486400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486400"/>
            <a:ext cx="2926080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20040"/>
            <a:ext cx="256032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20040"/>
            <a:ext cx="31750" cy="256032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5623" y="320040"/>
            <a:ext cx="256032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839905" y="320040"/>
            <a:ext cx="31750" cy="256032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29A1E"/>
                </a:solidFill>
                <a:latin typeface="Segoe UI Semibold"/>
              </a:rPr>
              <a:t>SENTINEL // CONTROL 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19659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0" b="1" i="0">
                <a:solidFill>
                  <a:srgbClr val="FFFFFF"/>
                </a:solidFill>
                <a:latin typeface="Bahnschrift SemiBold"/>
              </a:rPr>
              <a:t>SENTINEL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246120"/>
            <a:ext cx="9601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B9C6DA"/>
                </a:solidFill>
                <a:latin typeface="Segoe UI Semilight"/>
              </a:rPr>
              <a:t>The accountability layer for Gujarat's existing CCTV estate 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B9C6DA"/>
                </a:solidFill>
                <a:latin typeface="Segoe UI Semilight"/>
              </a:rPr>
              <a:t>not another detector, not a replacement VMS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A96A8"/>
                </a:solidFill>
                <a:latin typeface="Segoe UI"/>
              </a:rPr>
              <a:t>Model 1 + Model 2 hybrid  —  Gujarat Police Innovation Challenge 2026, Phase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568756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29A1E"/>
                </a:solidFill>
                <a:latin typeface="Segoe UI Semibold"/>
              </a:rPr>
              <a:t>₹51,00,000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01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371600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371600"/>
            <a:ext cx="82296" cy="56692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1371600"/>
            <a:ext cx="685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AEEF5"/>
                </a:solidFill>
                <a:latin typeface="Bahnschrift SemiBol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37160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The real problem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82296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1371600"/>
            <a:ext cx="685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AEEF5"/>
                </a:solidFill>
                <a:latin typeface="Bahnschrift SemiBol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37160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Positioning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020824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020824"/>
            <a:ext cx="82296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2020824"/>
            <a:ext cx="685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AEEF5"/>
                </a:solidFill>
                <a:latin typeface="Bahnschrift Semi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020824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Prior art &amp; research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020824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020824"/>
            <a:ext cx="82296" cy="56692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2020824"/>
            <a:ext cx="685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AEEF5"/>
                </a:solidFill>
                <a:latin typeface="Bahnschrift SemiBol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020824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Model &amp; justification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670048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2670048"/>
            <a:ext cx="82296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2670048"/>
            <a:ext cx="685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AEEF5"/>
                </a:solidFill>
                <a:latin typeface="Bahnschrift SemiBol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2670048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Solution overview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670048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2670048"/>
            <a:ext cx="82296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2670048"/>
            <a:ext cx="685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AEEF5"/>
                </a:solidFill>
                <a:latin typeface="Bahnschrift SemiBold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2670048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Architecture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319272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3319272"/>
            <a:ext cx="82296" cy="56692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3319272"/>
            <a:ext cx="685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AEEF5"/>
                </a:solidFill>
                <a:latin typeface="Bahnschrift SemiBol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3319272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AI analytics pipeline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319272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319272"/>
            <a:ext cx="82296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7376" y="3319272"/>
            <a:ext cx="685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AEEF5"/>
                </a:solidFill>
                <a:latin typeface="Bahnschrift SemiBold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3319272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Evidence tiers, measured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3968496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3968496"/>
            <a:ext cx="82296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" y="3968496"/>
            <a:ext cx="685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AEEF5"/>
                </a:solidFill>
                <a:latin typeface="Bahnschrift SemiBold"/>
              </a:rPr>
              <a:t>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17320" y="3968496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Governed cross-camera linking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3968496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3968496"/>
            <a:ext cx="82296" cy="56692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37376" y="3968496"/>
            <a:ext cx="685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AEEF5"/>
                </a:solidFill>
                <a:latin typeface="Bahnschrift SemiBold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3968496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Watchlist &amp; alerts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617720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" y="4617720"/>
            <a:ext cx="82296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" y="4617720"/>
            <a:ext cx="685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AEEF5"/>
                </a:solidFill>
                <a:latin typeface="Bahnschrift SemiBold"/>
              </a:rPr>
              <a:t>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20" y="461772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Security &amp; DPDP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4617720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4617720"/>
            <a:ext cx="82296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37376" y="4617720"/>
            <a:ext cx="685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AEEF5"/>
                </a:solidFill>
                <a:latin typeface="Bahnschrift SemiBold"/>
              </a:rPr>
              <a:t>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86600" y="461772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Scalability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266944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8640" y="5266944"/>
            <a:ext cx="82296" cy="56692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8096" y="5266944"/>
            <a:ext cx="685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AEEF5"/>
                </a:solidFill>
                <a:latin typeface="Bahnschrift SemiBold"/>
              </a:rPr>
              <a:t>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17320" y="5266944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Test case &amp; benefits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7920" y="5266944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17920" y="5266944"/>
            <a:ext cx="82296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37376" y="5266944"/>
            <a:ext cx="685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AEEF5"/>
                </a:solidFill>
                <a:latin typeface="Bahnschrift SemiBold"/>
              </a:rPr>
              <a:t>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86600" y="5266944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Honest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THE REAL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Bahnschrift SemiBold"/>
              </a:rPr>
              <a:t>Gujarat has the cameras and the ANPR. It's an integration and evidence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02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3736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2F7AF2"/>
                </a:solidFill>
                <a:latin typeface="Bahnschrift SemiBold"/>
              </a:rPr>
              <a:t>7,078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Cameras already live under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VISWAS / NETRAM / TRINETRA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508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73736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2F7AF2"/>
                </a:solidFill>
                <a:latin typeface="Bahnschrift SemiBold"/>
              </a:rPr>
              <a:t>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46888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of ANPR-detected violations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reach enforcement — CAG 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508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73736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2F7AF2"/>
                </a:solidFill>
                <a:latin typeface="Bahnschrift SemiBold"/>
              </a:rPr>
              <a:t>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46888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Departments,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independent systems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508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73736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9A1E"/>
                </a:solidFill>
                <a:latin typeface="Bahnschrift SemiBold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46888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Systems today that explain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why a cross-camera link was made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D1628"/>
                </a:solidFill>
                <a:latin typeface="Segoe UI Semibold"/>
              </a:rPr>
              <a:t>Mandatory live test case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60520"/>
            <a:ext cx="2014423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60520"/>
            <a:ext cx="201442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Onboard ~50 cameras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27655" y="4160520"/>
            <a:ext cx="1537106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27655" y="4160520"/>
            <a:ext cx="15371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Track a plate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9353" y="4160520"/>
            <a:ext cx="1855317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9353" y="4160520"/>
            <a:ext cx="185531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Timestamped route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9262" y="4160520"/>
            <a:ext cx="2173528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9262" y="4160520"/>
            <a:ext cx="21735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Watchlist cross-check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87382" y="4160520"/>
            <a:ext cx="1696212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87382" y="4160520"/>
            <a:ext cx="16962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Real-time alert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The accountability layer — not another vehicle-tracking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03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5349240" cy="2834640"/>
          </a:xfrm>
          <a:prstGeom prst="roundRect">
            <a:avLst>
              <a:gd name="adj" fmla="val 8000"/>
            </a:avLst>
          </a:prstGeom>
          <a:solidFill>
            <a:srgbClr val="2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8105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04A4A"/>
                </a:solidFill>
                <a:latin typeface="Segoe UI Semibold"/>
              </a:rPr>
              <a:t>NOT the 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350" b="1">
                <a:solidFill>
                  <a:srgbClr val="E04A4A"/>
                </a:solidFill>
                <a:latin typeface="Segoe UI"/>
              </a:rPr>
              <a:t>—  </a:t>
            </a:r>
            <a:r>
              <a:rPr sz="1350">
                <a:solidFill>
                  <a:srgbClr val="EEC9C9"/>
                </a:solidFill>
                <a:latin typeface="Segoe UI"/>
              </a:rPr>
              <a:t>“An AI that tracks vehicles across cameras even when the plate is unreadable”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350" b="1">
                <a:solidFill>
                  <a:srgbClr val="E04A4A"/>
                </a:solidFill>
                <a:latin typeface="Segoe UI"/>
              </a:rPr>
              <a:t>—  </a:t>
            </a:r>
            <a:r>
              <a:rPr sz="1350">
                <a:solidFill>
                  <a:srgbClr val="EEC9C9"/>
                </a:solidFill>
                <a:latin typeface="Segoe UI"/>
              </a:rPr>
              <a:t>Inventing ANPR or cross-camera tracking (already Staqu, Videonetics, Vehant, BriefCam)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554480"/>
            <a:ext cx="5532120" cy="2834640"/>
          </a:xfrm>
          <a:prstGeom prst="roundRect">
            <a:avLst>
              <a:gd name="adj" fmla="val 8000"/>
            </a:avLst>
          </a:prstGeom>
          <a:solidFill>
            <a:srgbClr val="0E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105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C9B7"/>
                </a:solidFill>
                <a:latin typeface="Segoe UI Semibold"/>
              </a:rPr>
              <a:t>THE actual 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350" b="1">
                <a:solidFill>
                  <a:srgbClr val="1EC9B7"/>
                </a:solidFill>
                <a:latin typeface="Segoe UI"/>
              </a:rPr>
              <a:t>—  </a:t>
            </a:r>
            <a:r>
              <a:rPr sz="1350">
                <a:solidFill>
                  <a:srgbClr val="C9E9DE"/>
                </a:solidFill>
                <a:latin typeface="Segoe UI"/>
              </a:rPr>
              <a:t>An open, vendor-neutral layer over VISWAS / TRINETRA / NETRAM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350" b="1">
                <a:solidFill>
                  <a:srgbClr val="1EC9B7"/>
                </a:solidFill>
                <a:latin typeface="Segoe UI"/>
              </a:rPr>
              <a:t>—  </a:t>
            </a:r>
            <a:r>
              <a:rPr sz="1350">
                <a:solidFill>
                  <a:srgbClr val="C9E9DE"/>
                </a:solidFill>
                <a:latin typeface="Segoe UI"/>
              </a:rPr>
              <a:t>Makes every cross-camera inference explainable, every query purpose-bound, every camera's ANPR fitness measurable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11064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616E82"/>
                </a:solidFill>
                <a:latin typeface="Segoe UI Semilight"/>
              </a:rPr>
              <a:t>Gujarat already runs VISWAS/NETRAM/TRINETRA at 7,000+ cameras. CAG's own 2025 audit found the gap is integration and evidentiary usability, not detection — only 3.8% of ANPR-detected violations reach enforcement. A jury with that knowledge asks “what did you invent?” — honesty about what is and isn't proven is the stronger pitch here, not a bigger tracking claim.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PRIOR ART &amp;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Bahnschrift SemiBold"/>
              </a:rPr>
              <a:t>We checked — competitors' real moat is certification and integration, not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04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508760"/>
            <a:ext cx="3611880" cy="54864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691640"/>
            <a:ext cx="3154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Gandhinagar already has an ICCC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31720"/>
            <a:ext cx="31546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100+ Indian cities run Integrated Command &amp; Control Centres — CCTV + sensors + GIS + CCTNS criminal-DB linkage. Gandhinagar, this event's own venue, runs one. Sentinel is positioned as a layer that feeds/sits above ICCC/TRINETRA/NETRAM — never pitched as a replacement.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184BC4"/>
                </a:solidFill>
                <a:latin typeface="Segoe UI"/>
              </a:rPr>
              <a:t>Source: India ICCC / Safe City research, §5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50876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508760"/>
            <a:ext cx="3611880" cy="54864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691640"/>
            <a:ext cx="3154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Incumbents' moat isn't the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331720"/>
            <a:ext cx="31546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Staqu, Videonetics, Vehant and Innefu already ship real ANPR/tracking. What actually gates government sales is STQC/ISO certification, live VAHAN/Sarthi/e-Challan integrations, and deployment track record — not detection accuracy.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3434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184BC4"/>
                </a:solidFill>
                <a:latin typeface="Segoe UI"/>
              </a:rPr>
              <a:t>Source: Competitive Teardown, “most important finding”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50876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508760"/>
            <a:ext cx="3611880" cy="54864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691640"/>
            <a:ext cx="3154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Our governance model has global precedent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331720"/>
            <a:ext cx="31546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UK's National ANPR Service (11,000 cameras, ~50M reads/day) mandates 12-month retention and audits every query — and drew criticism when oversight was weak. Sentinel's purpose-bound audit log and enforced retention follow this precedent, not invent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3434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184BC4"/>
                </a:solidFill>
                <a:latin typeface="Segoe UI"/>
              </a:rPr>
              <a:t>Source: UK NADC → NSAP research, §6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8348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 i="0">
                <a:solidFill>
                  <a:srgbClr val="0D1628"/>
                </a:solidFill>
                <a:latin typeface="Segoe UI Semilight"/>
              </a:rPr>
              <a:t>Conclusion, stated plainly: Sentinel's defensible wedge is an open, explainable architecture — it wins pilots, not yet procurement, until certification gates are cleared. That honesty is more credible to this jury than claiming the technology alone is the moat.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SOLUTION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Model 1 + Model 2 + Model 3 — a real hybrid, built and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05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373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2F7AF2"/>
                </a:solidFill>
                <a:latin typeface="Bahnschrift SemiBold"/>
              </a:rPr>
              <a:t>01</a:t>
            </a:r>
          </a:p>
        </p:txBody>
      </p:sp>
      <p:sp>
        <p:nvSpPr>
          <p:cNvPr id="14" name="Oval 13"/>
          <p:cNvSpPr/>
          <p:nvPr/>
        </p:nvSpPr>
        <p:spPr>
          <a:xfrm>
            <a:off x="3694176" y="1819656"/>
            <a:ext cx="201168" cy="201168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060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Registry &amp; GIS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B9C6DA"/>
                </a:solidFill>
                <a:latin typeface="Segoe UI Semilight"/>
              </a:rPr>
              <a:t>Mandatory foundation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50876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7373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2F7AF2"/>
                </a:solidFill>
                <a:latin typeface="Bahnschrift SemiBold"/>
              </a:rPr>
              <a:t>02</a:t>
            </a:r>
          </a:p>
        </p:txBody>
      </p:sp>
      <p:sp>
        <p:nvSpPr>
          <p:cNvPr id="19" name="Oval 18"/>
          <p:cNvSpPr/>
          <p:nvPr/>
        </p:nvSpPr>
        <p:spPr>
          <a:xfrm>
            <a:off x="7443216" y="1819656"/>
            <a:ext cx="201168" cy="201168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6060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Unified Viewing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24612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B9C6DA"/>
                </a:solidFill>
                <a:latin typeface="Segoe UI Semilight"/>
              </a:rPr>
              <a:t>Direct integration, ≥2 independent systems — Gujarat sandbox + Caltrans D3 public CCTV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50876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7373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2F7AF2"/>
                </a:solidFill>
                <a:latin typeface="Bahnschrift SemiBold"/>
              </a:rPr>
              <a:t>03</a:t>
            </a:r>
          </a:p>
        </p:txBody>
      </p:sp>
      <p:sp>
        <p:nvSpPr>
          <p:cNvPr id="24" name="Oval 23"/>
          <p:cNvSpPr/>
          <p:nvPr/>
        </p:nvSpPr>
        <p:spPr>
          <a:xfrm>
            <a:off x="11192256" y="1819656"/>
            <a:ext cx="201168" cy="201168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6060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VMS Federation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24612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B9C6DA"/>
                </a:solidFill>
                <a:latin typeface="Segoe UI Semilight"/>
              </a:rPr>
              <a:t>Built &amp; tested — Sentinel + NYC Open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16E82"/>
                </a:solidFill>
                <a:latin typeface="Segoe UI Semilight"/>
              </a:rPr>
              <a:t>“Combine two or more models” is the problem statement's own definition of a hybrid — we claim credit only for what is built and verified. Model 3 federates our own data with a second, real, independently-operated public dataset (not a second Gujarat system); Model 4 (state-level central VMS/command centre) stays a documented roadmap, not built this cycle.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SOLUTION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Bahnschrift SemiBold"/>
              </a:rPr>
              <a:t>A governance layer that refuses to let inference pass as 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06 /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16E82"/>
                </a:solidFill>
                <a:latin typeface="Segoe UI Semilight"/>
              </a:rPr>
              <a:t>Four concrete controls, not a stronger tracking claim — each one enforced in code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4884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2386584"/>
            <a:ext cx="502920" cy="502920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Bahnschrift SemiBold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35000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Segoe UI Semibold"/>
              </a:rPr>
              <a:t>Evidence tiers, enforced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807208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CONFIRMED / PROBABLE / LEAD ONLY — a LEAD ONLY link can never be exported as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4884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9672" y="2386584"/>
            <a:ext cx="502920" cy="502920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Bahnschrift SemiBold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35000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Segoe UI Semibold"/>
              </a:rPr>
              <a:t>Observed vs. inferred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807208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Route gaps are filled honestly — never shown as confirmed fact.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672" y="4352544"/>
            <a:ext cx="502920" cy="502920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3525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Bahnschrift SemiBold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3159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Segoe UI Semibold"/>
              </a:rPr>
              <a:t>Governed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773168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Every watchlist hit is a live, attributable investigation item.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11480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19672" y="4352544"/>
            <a:ext cx="502920" cy="502920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43525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Bahnschrift SemiBold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3159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Segoe UI Semibold"/>
              </a:rPr>
              <a:t>“Why linked?”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773168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Every match shows its method and score, including when that score is weak.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Bahnschrift SemiBold"/>
              </a:rPr>
              <a:t>One flow, today and at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07 /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813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2A16B"/>
                </a:solidFill>
                <a:latin typeface="Segoe UI Semibold"/>
              </a:rPr>
              <a:t>PILOT — BUILT &amp; VERIFIED</a:t>
            </a:r>
          </a:p>
        </p:txBody>
      </p:sp>
      <p:sp>
        <p:nvSpPr>
          <p:cNvPr id="13" name="Terminator 12"/>
          <p:cNvSpPr/>
          <p:nvPr/>
        </p:nvSpPr>
        <p:spPr>
          <a:xfrm>
            <a:off x="548640" y="1691640"/>
            <a:ext cx="1481328" cy="914400"/>
          </a:xfrm>
          <a:prstGeom prst="flowChartTerminator">
            <a:avLst/>
          </a:prstGeom>
          <a:solidFill>
            <a:srgbClr val="0D1628"/>
          </a:solidFill>
          <a:ln w="19050">
            <a:solidFill>
              <a:srgbClr val="2F7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Departments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29968" y="2148840"/>
            <a:ext cx="435254" cy="0"/>
          </a:xfrm>
          <a:prstGeom prst="line">
            <a:avLst/>
          </a:prstGeom>
          <a:ln w="28575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cess 14"/>
          <p:cNvSpPr/>
          <p:nvPr/>
        </p:nvSpPr>
        <p:spPr>
          <a:xfrm>
            <a:off x="2465222" y="1691640"/>
            <a:ext cx="1481328" cy="914400"/>
          </a:xfrm>
          <a:prstGeom prst="flowChartProcess">
            <a:avLst/>
          </a:prstGeom>
          <a:solidFill>
            <a:srgbClr val="0D1628"/>
          </a:solidFill>
          <a:ln w="19050">
            <a:solidFill>
              <a:srgbClr val="2F7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Catalogue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46550" y="2148840"/>
            <a:ext cx="435254" cy="0"/>
          </a:xfrm>
          <a:prstGeom prst="line">
            <a:avLst/>
          </a:prstGeom>
          <a:ln w="28575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cess 16"/>
          <p:cNvSpPr/>
          <p:nvPr/>
        </p:nvSpPr>
        <p:spPr>
          <a:xfrm>
            <a:off x="4381804" y="1691640"/>
            <a:ext cx="1481328" cy="914400"/>
          </a:xfrm>
          <a:prstGeom prst="flowChartProcess">
            <a:avLst/>
          </a:prstGeom>
          <a:solidFill>
            <a:srgbClr val="0D1628"/>
          </a:solidFill>
          <a:ln w="19050">
            <a:solidFill>
              <a:srgbClr val="2F7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Stream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Manager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63132" y="2148840"/>
            <a:ext cx="435254" cy="0"/>
          </a:xfrm>
          <a:prstGeom prst="line">
            <a:avLst/>
          </a:prstGeom>
          <a:ln w="28575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edefined Process 18"/>
          <p:cNvSpPr/>
          <p:nvPr/>
        </p:nvSpPr>
        <p:spPr>
          <a:xfrm>
            <a:off x="6298386" y="1691640"/>
            <a:ext cx="1481328" cy="914400"/>
          </a:xfrm>
          <a:prstGeom prst="flowChartPredefinedProcess">
            <a:avLst/>
          </a:prstGeom>
          <a:solidFill>
            <a:srgbClr val="0D1628"/>
          </a:solidFill>
          <a:ln w="19050">
            <a:solidFill>
              <a:srgbClr val="2F7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AI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Pipeline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9714" y="2148840"/>
            <a:ext cx="435254" cy="0"/>
          </a:xfrm>
          <a:prstGeom prst="line">
            <a:avLst/>
          </a:prstGeom>
          <a:ln w="28575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Magnetic Disk 20"/>
          <p:cNvSpPr/>
          <p:nvPr/>
        </p:nvSpPr>
        <p:spPr>
          <a:xfrm>
            <a:off x="8214968" y="1691640"/>
            <a:ext cx="1481328" cy="914400"/>
          </a:xfrm>
          <a:prstGeom prst="flowChartMagneticDisk">
            <a:avLst/>
          </a:prstGeom>
          <a:solidFill>
            <a:srgbClr val="0D1628"/>
          </a:solidFill>
          <a:ln w="19050">
            <a:solidFill>
              <a:srgbClr val="2F7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Event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Store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96296" y="2148840"/>
            <a:ext cx="435254" cy="0"/>
          </a:xfrm>
          <a:prstGeom prst="line">
            <a:avLst/>
          </a:prstGeom>
          <a:ln w="28575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splay 22"/>
          <p:cNvSpPr/>
          <p:nvPr/>
        </p:nvSpPr>
        <p:spPr>
          <a:xfrm>
            <a:off x="10131550" y="1691640"/>
            <a:ext cx="1481328" cy="914400"/>
          </a:xfrm>
          <a:prstGeom prst="flowChartDisplay">
            <a:avLst/>
          </a:prstGeom>
          <a:solidFill>
            <a:srgbClr val="0D1628"/>
          </a:solidFill>
          <a:ln w="19050">
            <a:solidFill>
              <a:srgbClr val="2F7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API +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A93A3"/>
                </a:solidFill>
                <a:latin typeface="Segoe UI Semibold"/>
              </a:rPr>
              <a:t>PRODUCTION ROADMAP — DOCUMENTED, NOT BUILT THIS WEEK</a:t>
            </a:r>
          </a:p>
        </p:txBody>
      </p:sp>
      <p:sp>
        <p:nvSpPr>
          <p:cNvPr id="25" name="Cloud 24"/>
          <p:cNvSpPr/>
          <p:nvPr/>
        </p:nvSpPr>
        <p:spPr>
          <a:xfrm>
            <a:off x="548640" y="3794760"/>
            <a:ext cx="2468880" cy="914400"/>
          </a:xfrm>
          <a:prstGeom prst="cloud">
            <a:avLst/>
          </a:prstGeom>
          <a:solidFill>
            <a:srgbClr val="F4F6FA"/>
          </a:solidFill>
          <a:ln w="1587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Regional</a:t>
            </a:r>
          </a:p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Media Fabric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17520" y="4251960"/>
            <a:ext cx="396240" cy="0"/>
          </a:xfrm>
          <a:prstGeom prst="line">
            <a:avLst/>
          </a:prstGeom>
          <a:ln w="19050">
            <a:solidFill>
              <a:srgbClr val="8A93A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loud 26"/>
          <p:cNvSpPr/>
          <p:nvPr/>
        </p:nvSpPr>
        <p:spPr>
          <a:xfrm>
            <a:off x="3413760" y="3794760"/>
            <a:ext cx="2468880" cy="914400"/>
          </a:xfrm>
          <a:prstGeom prst="cloud">
            <a:avLst/>
          </a:prstGeom>
          <a:solidFill>
            <a:srgbClr val="F4F6FA"/>
          </a:solidFill>
          <a:ln w="1587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Kafka</a:t>
            </a:r>
          </a:p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Event Bus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82640" y="4251960"/>
            <a:ext cx="396240" cy="0"/>
          </a:xfrm>
          <a:prstGeom prst="line">
            <a:avLst/>
          </a:prstGeom>
          <a:ln w="19050">
            <a:solidFill>
              <a:srgbClr val="8A93A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loud 28"/>
          <p:cNvSpPr/>
          <p:nvPr/>
        </p:nvSpPr>
        <p:spPr>
          <a:xfrm>
            <a:off x="6278880" y="3794760"/>
            <a:ext cx="2468880" cy="914400"/>
          </a:xfrm>
          <a:prstGeom prst="cloud">
            <a:avLst/>
          </a:prstGeom>
          <a:solidFill>
            <a:srgbClr val="F4F6FA"/>
          </a:solidFill>
          <a:ln w="1587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Govt DBs</a:t>
            </a:r>
          </a:p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(query, don't copy)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47760" y="4251960"/>
            <a:ext cx="396240" cy="0"/>
          </a:xfrm>
          <a:prstGeom prst="line">
            <a:avLst/>
          </a:prstGeom>
          <a:ln w="19050">
            <a:solidFill>
              <a:srgbClr val="8A93A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loud 30"/>
          <p:cNvSpPr/>
          <p:nvPr/>
        </p:nvSpPr>
        <p:spPr>
          <a:xfrm>
            <a:off x="9144000" y="3794760"/>
            <a:ext cx="2468880" cy="914400"/>
          </a:xfrm>
          <a:prstGeom prst="cloud">
            <a:avLst/>
          </a:prstGeom>
          <a:solidFill>
            <a:srgbClr val="F4F6FA"/>
          </a:solidFill>
          <a:ln w="1587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Governance</a:t>
            </a:r>
          </a:p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Plane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828800" y="2656840"/>
            <a:ext cx="0" cy="1087120"/>
          </a:xfrm>
          <a:prstGeom prst="line">
            <a:avLst/>
          </a:prstGeom>
          <a:ln w="15875">
            <a:solidFill>
              <a:srgbClr val="8A93A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1">
                <a:solidFill>
                  <a:srgbClr val="616E82"/>
                </a:solidFill>
                <a:latin typeface="Segoe UI Semilight"/>
              </a:rPr>
              <a:t>Core principle: centralize metadata, events, identity, and governance — not every raw video frame.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1">
                <a:solidFill>
                  <a:srgbClr val="616E82"/>
                </a:solidFill>
                <a:latin typeface="Segoe UI Semilight"/>
              </a:rPr>
              <a:t>80,000 cameras of raw video ≈ 160 Gbps sustained. Structured events instead ≈ 640 Mbps.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Built to the sandbox's own rulebook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08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50876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72821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TCP-forced RTSP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7744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Never UDP — avoids corrupt frames across NAT/firewalls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4" y="150876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46704" y="150876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72821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PTS-driven 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37744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CAP_PROP_FPS is never trusted for velocity/dwell math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50876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50876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72821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Backoff reconnect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37744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2s → 30s cap, never a tight retry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2832" y="150876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2832" y="150876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172821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Discontinuity-aware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237744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Recording loop points reset tracker state, not corrupt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61188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61188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3133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Catalogue-only discovery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No hardcoded camera URLs — IDs can change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46704" y="361188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46704" y="361188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9584" y="383133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ONVIF-targeted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9584" y="448056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Vendor-neutral standard for real heterogeneous cameras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361188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44768" y="361188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383133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One clock authority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48056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Cross-camera timing never assumes NTP-synced legacy cameras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42832" y="361188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42832" y="361188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383133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Department tagging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25712" y="448056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Bulk, manual, and API onboarding, protocol-independent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AI VIDEO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Bahnschrift SemiBold"/>
              </a:rPr>
              <a:t>Plate-first, appearance-second, geo-gated — never one black-box Re-ID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09 / 21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" y="1828800"/>
            <a:ext cx="1097280" cy="1097280"/>
          </a:xfrm>
          <a:prstGeom prst="ellipse">
            <a:avLst/>
          </a:prstGeom>
          <a:solidFill>
            <a:srgbClr val="0D1628"/>
          </a:solidFill>
          <a:ln w="28575">
            <a:solidFill>
              <a:srgbClr val="12A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35808"/>
            <a:ext cx="1444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YOLOv8n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19656" y="2377440"/>
            <a:ext cx="505968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25624" y="1828800"/>
            <a:ext cx="1097280" cy="1097280"/>
          </a:xfrm>
          <a:prstGeom prst="ellipse">
            <a:avLst/>
          </a:prstGeom>
          <a:solidFill>
            <a:srgbClr val="0D1628"/>
          </a:solidFill>
          <a:ln w="28575">
            <a:solidFill>
              <a:srgbClr val="12A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Locate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1888" y="3035808"/>
            <a:ext cx="1444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YOLOv11 (trained)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22904" y="2377440"/>
            <a:ext cx="505968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928872" y="1828800"/>
            <a:ext cx="1097280" cy="1097280"/>
          </a:xfrm>
          <a:prstGeom prst="ellipse">
            <a:avLst/>
          </a:prstGeom>
          <a:solidFill>
            <a:srgbClr val="0D1628"/>
          </a:solidFill>
          <a:ln w="28575">
            <a:solidFill>
              <a:srgbClr val="12A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Enhance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5136" y="3035808"/>
            <a:ext cx="1444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CLAHE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6152" y="2377440"/>
            <a:ext cx="505968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532120" y="1828800"/>
            <a:ext cx="1097280" cy="1097280"/>
          </a:xfrm>
          <a:prstGeom prst="ellipse">
            <a:avLst/>
          </a:prstGeom>
          <a:solidFill>
            <a:srgbClr val="0D1628"/>
          </a:solidFill>
          <a:ln w="28575">
            <a:solidFill>
              <a:srgbClr val="12A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OCR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035808"/>
            <a:ext cx="1444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PaddleOCR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29400" y="2377440"/>
            <a:ext cx="505968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35368" y="1828800"/>
            <a:ext cx="1097280" cy="1097280"/>
          </a:xfrm>
          <a:prstGeom prst="ellipse">
            <a:avLst/>
          </a:prstGeom>
          <a:solidFill>
            <a:srgbClr val="0D1628"/>
          </a:solidFill>
          <a:ln w="28575">
            <a:solidFill>
              <a:srgbClr val="12A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1632" y="3035808"/>
            <a:ext cx="1444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ByteTrack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32648" y="2377440"/>
            <a:ext cx="505968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738616" y="1828800"/>
            <a:ext cx="1097280" cy="1097280"/>
          </a:xfrm>
          <a:prstGeom prst="ellipse">
            <a:avLst/>
          </a:prstGeom>
          <a:solidFill>
            <a:srgbClr val="0D1628"/>
          </a:solidFill>
          <a:ln w="28575">
            <a:solidFill>
              <a:srgbClr val="F2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Re-ID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4880" y="3035808"/>
            <a:ext cx="1444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Colour hist.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35896" y="2377440"/>
            <a:ext cx="505968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341864" y="1828800"/>
            <a:ext cx="1097280" cy="1097280"/>
          </a:xfrm>
          <a:prstGeom prst="ellipse">
            <a:avLst/>
          </a:prstGeom>
          <a:solidFill>
            <a:srgbClr val="0D1628"/>
          </a:solidFill>
          <a:ln w="28575">
            <a:solidFill>
              <a:srgbClr val="12A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Identity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8128" y="3035808"/>
            <a:ext cx="1444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Plate-first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3447288"/>
            <a:ext cx="146304" cy="146304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4107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Verified</a:t>
            </a:r>
          </a:p>
        </p:txBody>
      </p:sp>
      <p:sp>
        <p:nvSpPr>
          <p:cNvPr id="34" name="Oval 33"/>
          <p:cNvSpPr/>
          <p:nvPr/>
        </p:nvSpPr>
        <p:spPr>
          <a:xfrm>
            <a:off x="1920240" y="3447288"/>
            <a:ext cx="146304" cy="146304"/>
          </a:xfrm>
          <a:prstGeom prst="ellipse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48840" y="34107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Partial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895344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Also captured per sighting: colour, type, dimensions, dwell/speed/direction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206240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206240"/>
            <a:ext cx="73152" cy="10241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86384" y="4370832"/>
            <a:ext cx="384048" cy="384048"/>
          </a:xfrm>
          <a:prstGeom prst="ellipse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43708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Bahnschrift SemiBold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325112"/>
            <a:ext cx="4434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Consensus-vote plate fusion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462686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Position-weighted character vote across every frame's OCR read, not exact-string majority — one misread character can't outvote an otherwise-agreeing plate. Real case: cam06, 4/5 frames agree, 0.81 confidence.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4206240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4206240"/>
            <a:ext cx="73152" cy="10241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9944" y="4370832"/>
            <a:ext cx="384048" cy="384048"/>
          </a:xfrm>
          <a:prstGeom prst="ellipse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9944" y="43708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Bahnschrift SemiBold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4325112"/>
            <a:ext cx="4434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Hard geo-feasibility gate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462686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An appearance-only cross-camera match is accepted only if it also clears a physical feasibility check — haversine distance ÷ elapsed time vs. a plausible max speed. Infeasible candidates are excluded outright, not just down-scored.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358384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616E82"/>
                </a:solidFill>
                <a:latin typeface="Segoe UI Semilight"/>
              </a:rPr>
              <a:t>Not built: make/model classification — no open-source Indian-market model exists; stated, not faked.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6509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2A16B"/>
                </a:solidFill>
                <a:latin typeface="Segoe UI Semilight"/>
              </a:rPr>
              <a:t>Real-footage result: a real sandbox vehicle's plate (GJ01RP6128) read correctly and confidently on camera cam06, verified through the actual production accept-logic. A single-camera read, stated as exactly that — not evidence of cross-camera tracking.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EVIDENCE TIERS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We measured our own weakest link — and refuse to hide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10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72768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 w="22225">
            <a:solidFill>
              <a:srgbClr val="12A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55648"/>
            <a:ext cx="3008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2A16B"/>
                </a:solidFill>
                <a:latin typeface="Segoe UI Semibold"/>
              </a:rPr>
              <a:t>CONFIRMED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084831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Bahnschrift SemiBold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743200"/>
            <a:ext cx="3008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6A8"/>
                </a:solidFill>
                <a:latin typeface="Segoe UI Semilight"/>
              </a:rPr>
              <a:t>of 12,257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127248"/>
            <a:ext cx="300837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This sighting read and validated its own plate.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572768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 w="22225">
            <a:solidFill>
              <a:srgbClr val="F2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1755648"/>
            <a:ext cx="3008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F29A1E"/>
                </a:solidFill>
                <a:latin typeface="Segoe UI Semibold"/>
              </a:rPr>
              <a:t>PROBABLE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084831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Bahnschrift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743200"/>
            <a:ext cx="3008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6A8"/>
                </a:solidFill>
                <a:latin typeface="Segoe UI Semilight"/>
              </a:rPr>
              <a:t>plate_upgrade links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3127248"/>
            <a:ext cx="300837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No plate here, but linked by within-camera track continuity from one that read.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1572768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 w="22225">
            <a:solidFill>
              <a:srgbClr val="E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1755648"/>
            <a:ext cx="3008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E04A4A"/>
                </a:solidFill>
                <a:latin typeface="Segoe UI Semibold"/>
              </a:rPr>
              <a:t>LEAD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084831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Bahnschrift SemiBold"/>
              </a:rPr>
              <a:t>12,251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2743200"/>
            <a:ext cx="3008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6A8"/>
                </a:solidFill>
                <a:latin typeface="Segoe UI Semilight"/>
              </a:rPr>
              <a:t>appearance-only or anonymous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127248"/>
            <a:ext cx="300837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41.87% measured false-positive rate. Not exportable as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D1628"/>
                </a:solidFill>
                <a:latin typeface="Segoe UI Semibold"/>
              </a:rPr>
              <a:t>Only CONFIRMED is exportable. PROBABLE is deliberately excluded too — an export is where a hedge stops being visible.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 Semilight"/>
              </a:rPr>
              <a:t>Real query over the live sentinel.db, not a projection. The appearance encoder carrying 97.8% of cross-camera links is a colour-histogram model we ourselves measured at a 41.87% false-positive rate on real confirmed-different-vehicle pairs — so the system labels that class LEAD ONLY and blocks its export, rather than presenting it as a tracked vehicle.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GOVERNED CROSS-CAMERA LINKING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Observed vs. inferred — never conflated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11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82880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2048256"/>
            <a:ext cx="146304" cy="146304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cam01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50592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EC9B7"/>
                </a:solidFill>
                <a:latin typeface="Segoe UI Semilight"/>
              </a:rPr>
              <a:t>OBSERVED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04288" y="2359152"/>
            <a:ext cx="411480" cy="0"/>
          </a:xfrm>
          <a:prstGeom prst="line">
            <a:avLst/>
          </a:prstGeom>
          <a:ln w="19050">
            <a:solidFill>
              <a:srgbClr val="8A96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43200" y="1993392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9050">
            <a:solidFill>
              <a:srgbClr val="F2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06654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29A1E"/>
                </a:solidFill>
                <a:latin typeface="Segoe UI Semibold"/>
              </a:rPr>
              <a:t>INFERRED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340864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16E82"/>
                </a:solidFill>
                <a:latin typeface="Segoe UI Semilight"/>
              </a:rPr>
              <a:t>plausible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53128" y="2359152"/>
            <a:ext cx="411480" cy="0"/>
          </a:xfrm>
          <a:prstGeom prst="line">
            <a:avLst/>
          </a:prstGeom>
          <a:ln w="19050">
            <a:solidFill>
              <a:srgbClr val="8A96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92040" y="182880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38928" y="2048256"/>
            <a:ext cx="146304" cy="146304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201168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cam03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450592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EC9B7"/>
                </a:solidFill>
                <a:latin typeface="Segoe UI Semilight"/>
              </a:rPr>
              <a:t>OBSERVED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01968" y="2359152"/>
            <a:ext cx="411480" cy="0"/>
          </a:xfrm>
          <a:prstGeom prst="line">
            <a:avLst/>
          </a:prstGeom>
          <a:ln w="19050">
            <a:solidFill>
              <a:srgbClr val="8A96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40880" y="1993392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9050">
            <a:solidFill>
              <a:srgbClr val="E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06654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04A4A"/>
                </a:solidFill>
                <a:latin typeface="Segoe UI Semibold"/>
              </a:rPr>
              <a:t>INFERRED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340864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16E82"/>
                </a:solidFill>
                <a:latin typeface="Segoe UI Semilight"/>
              </a:rPr>
              <a:t>not direct — flagged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50808" y="2359152"/>
            <a:ext cx="411480" cy="0"/>
          </a:xfrm>
          <a:prstGeom prst="line">
            <a:avLst/>
          </a:prstGeom>
          <a:ln w="19050">
            <a:solidFill>
              <a:srgbClr val="8A96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89720" y="182880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36608" y="2048256"/>
            <a:ext cx="146304" cy="146304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201168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cam05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2450592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EC9B7"/>
                </a:solidFill>
                <a:latin typeface="Segoe UI Semilight"/>
              </a:rPr>
              <a:t>OBSERVED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246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16E82"/>
                </a:solidFill>
                <a:latin typeface="Segoe UI Semilight"/>
              </a:rPr>
              <a:t>Straight-line distance + time-gap feasibility between sightings — a lead, never presented as fact. A high implied speed flags “not a direct drive.” Appearance-only links carry the same discipline: labelled LEAD ONLY, shown with their score, and never silently upgraded to CONFIRMED.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D1628"/>
                </a:solidFill>
                <a:latin typeface="Segoe UI Semibold"/>
              </a:rPr>
              <a:t>Deliberately roadmap, not built: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70916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F29A1E"/>
                </a:solidFill>
                <a:latin typeface="Segoe UI Semilight"/>
              </a:rPr>
              <a:t>—  </a:t>
            </a:r>
            <a:r>
              <a:rPr sz="1300">
                <a:solidFill>
                  <a:srgbClr val="616E82"/>
                </a:solidFill>
                <a:latin typeface="Segoe UI Semilight"/>
              </a:rPr>
              <a:t>Road-network (OSM) routing — Gujarat's minor-road coverage is incomplete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F29A1E"/>
                </a:solidFill>
                <a:latin typeface="Segoe UI Semilight"/>
              </a:rPr>
              <a:t>—  </a:t>
            </a:r>
            <a:r>
              <a:rPr sz="1300">
                <a:solidFill>
                  <a:srgbClr val="616E82"/>
                </a:solidFill>
                <a:latin typeface="Segoe UI Semilight"/>
              </a:rPr>
              <a:t>Predictive next-camera pruning — 80k-scale value, not observable at a 50-camera pilot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WATCHLIST 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A lead, not a verdict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12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69164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385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NEW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2075688"/>
            <a:ext cx="502920" cy="0"/>
          </a:xfrm>
          <a:prstGeom prst="line">
            <a:avLst/>
          </a:prstGeom>
          <a:ln w="28575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11880" y="169164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9385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ACKNOWLEDGED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97880" y="2075688"/>
            <a:ext cx="502920" cy="0"/>
          </a:xfrm>
          <a:prstGeom prst="line">
            <a:avLst/>
          </a:prstGeom>
          <a:ln w="28575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46520" y="169164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0E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9385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RESOLVED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288036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2A1414"/>
          </a:solidFill>
          <a:ln w="15875">
            <a:solidFill>
              <a:srgbClr val="E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13639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04A4A"/>
                </a:solidFill>
                <a:latin typeface="Segoe UI Semibold"/>
              </a:rPr>
              <a:t>DISMISSED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0120" y="2468880"/>
            <a:ext cx="2834640" cy="411480"/>
          </a:xfrm>
          <a:prstGeom prst="line">
            <a:avLst/>
          </a:prstGeom>
          <a:ln w="19050">
            <a:solidFill>
              <a:srgbClr val="E04A4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36118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D1628"/>
                </a:solidFill>
                <a:latin typeface="Segoe UI Semibold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5394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50">
                <a:solidFill>
                  <a:srgbClr val="111827"/>
                </a:solidFill>
                <a:latin typeface="Segoe UI Semilight"/>
              </a:rPr>
              <a:t>Watchlist match → alert, instantly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50">
                <a:solidFill>
                  <a:srgbClr val="111827"/>
                </a:solidFill>
                <a:latin typeface="Segoe UI Semilight"/>
              </a:rPr>
              <a:t>Only server-declared transitions are legal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50">
                <a:solidFill>
                  <a:srgbClr val="111827"/>
                </a:solidFill>
                <a:latin typeface="Segoe UI Semilight"/>
              </a:rPr>
              <a:t>Every move records who, and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61188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D1628"/>
                </a:solidFill>
                <a:latin typeface="Segoe UI Semibold"/>
              </a:rPr>
              <a:t>“Why was this linked?”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023360"/>
            <a:ext cx="5349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50">
                <a:solidFill>
                  <a:srgbClr val="111827"/>
                </a:solidFill>
                <a:latin typeface="Segoe UI Semilight"/>
              </a:rPr>
              <a:t>Plate 50% / appearance 35% / recency 15%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50">
                <a:solidFill>
                  <a:srgbClr val="111827"/>
                </a:solidFill>
                <a:latin typeface="Segoe UI Semilight"/>
              </a:rPr>
              <a:t>A transparency aid, not a calibrated probability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50">
                <a:solidFill>
                  <a:srgbClr val="111827"/>
                </a:solidFill>
                <a:latin typeface="Segoe UI Semilight"/>
              </a:rPr>
              <a:t>Low-confidence links are never equal-weighted with a confirmed hit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Bahnschrift SemiBold"/>
              </a:rPr>
              <a:t>RBAC and retention enforced in code — not policy-on-paper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13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3611880" cy="1508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1737360"/>
            <a:ext cx="384048" cy="384048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169164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Real RBAC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8600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Genuine 401/403 — not decoration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508760"/>
            <a:ext cx="3611880" cy="1508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6280" y="1737360"/>
            <a:ext cx="384048" cy="384048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3208" y="169164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No face recognition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28600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Deliberate — DPDP risk + documented bias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508760"/>
            <a:ext cx="3611880" cy="1508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5320" y="1737360"/>
            <a:ext cx="384048" cy="384048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248" y="169164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Purpose-bound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8600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Every query logs user, purpose, case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154680"/>
            <a:ext cx="3611880" cy="1508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3383280"/>
            <a:ext cx="384048" cy="384048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4168" y="333756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Data minimization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3192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No face embeddings, anywhere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154680"/>
            <a:ext cx="3611880" cy="1508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26280" y="3383280"/>
            <a:ext cx="384048" cy="384048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3208" y="333756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Enforced retention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93192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Purges in code, not policy-on-paper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154680"/>
            <a:ext cx="3611880" cy="1508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5320" y="3383280"/>
            <a:ext cx="384048" cy="384048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42248" y="333756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Found &amp; fixed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93192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SSRF gap closed during development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16E82"/>
                </a:solidFill>
                <a:latin typeface="Segoe UI Semilight"/>
              </a:rPr>
              <a:t>DPDP §17 exempts law-enforcement processing — designed as if the Act's substantive obligations apply anyway.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Bahnschrift SemiBold"/>
              </a:rPr>
              <a:t>Open source, end to end — meets the hackathon's requirement in full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14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2679192" cy="40233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508760"/>
            <a:ext cx="2679192" cy="502920"/>
          </a:xfrm>
          <a:prstGeom prst="rect">
            <a:avLst/>
          </a:prstGeom>
          <a:solidFill>
            <a:srgbClr val="18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36776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Backend &amp;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40280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240280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FastAPI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62072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62072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SQLAlchemy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83864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83864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PostgreSQL / PostGIS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46704" y="1508760"/>
            <a:ext cx="2679192" cy="40233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1508760"/>
            <a:ext cx="2679192" cy="502920"/>
          </a:xfrm>
          <a:prstGeom prst="rect">
            <a:avLst/>
          </a:prstGeom>
          <a:solidFill>
            <a:srgbClr val="18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6704" y="1636776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Computer vision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9584" y="2240280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240280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OpenCV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9584" y="2862072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9584" y="2862072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YOLOv8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9584" y="3483864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9584" y="3483864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PaddleOCR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9584" y="4105656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9584" y="4105656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ByteTrack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1508760"/>
            <a:ext cx="2679192" cy="40233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4768" y="1508760"/>
            <a:ext cx="2679192" cy="502920"/>
          </a:xfrm>
          <a:prstGeom prst="rect">
            <a:avLst/>
          </a:prstGeom>
          <a:solidFill>
            <a:srgbClr val="18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1636776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Frontend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7648" y="2240280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2240280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React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7648" y="2862072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2862072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Leaflet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27648" y="3483864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3483864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hls.js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42832" y="1508760"/>
            <a:ext cx="2679192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42832" y="1508760"/>
            <a:ext cx="2679192" cy="502920"/>
          </a:xfrm>
          <a:prstGeom prst="rect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42832" y="1636776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Roadmap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25712" y="2240280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25712" y="2240280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16E82"/>
                </a:solidFill>
                <a:latin typeface="Segoe UI Semibold"/>
              </a:rPr>
              <a:t>Kafka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25712" y="2862072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25712" y="2862072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16E82"/>
                </a:solidFill>
                <a:latin typeface="Segoe UI Semibold"/>
              </a:rPr>
              <a:t>MediaMTX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25712" y="3483864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25712" y="3483864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16E82"/>
                </a:solidFill>
                <a:latin typeface="Segoe UI Semibold"/>
              </a:rPr>
              <a:t>pgvector / Milvus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16E82"/>
                </a:solidFill>
                <a:latin typeface="Segoe UI Semilight"/>
              </a:rPr>
              <a:t>No proprietary/closed-source component anywhere in the analytics or serving path.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SCALABILITY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Bahnschrift SemiBold"/>
              </a:rPr>
              <a:t>Same codebase, four phased tiers — pilot to statewide, no rewrite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15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09928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2F7AF2"/>
                </a:solidFill>
                <a:latin typeface="Bahnschrift SemiBold"/>
              </a:rPr>
              <a:t>~4,000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7744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GPU-class edge units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at full build-out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5087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709928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29A1E"/>
                </a:solidFill>
                <a:latin typeface="Bahnschrift SemiBold"/>
              </a:rPr>
              <a:t>640 Mbps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37744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Structured events —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not 160 Gbps raw video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5087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709928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2F7AF2"/>
                </a:solidFill>
                <a:latin typeface="Bahnschrift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37744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Storage tiers: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hot / warm / cold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5087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709928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2F7AF2"/>
                </a:solidFill>
                <a:latin typeface="Bahnschrift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37744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Phased rollout stages,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same codebase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747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3931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84BC4"/>
                </a:solidFill>
                <a:latin typeface="Segoe UI Semibold"/>
              </a:rPr>
              <a:t>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02336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RTSP + inference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60520" y="4069080"/>
            <a:ext cx="137160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297680" y="34747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63931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84BC4"/>
                </a:solidFill>
                <a:latin typeface="Segoe UI Semibold"/>
              </a:rPr>
              <a:t>Regional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02336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Re-ID, media relay — NETRAM-aligned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09560" y="4069080"/>
            <a:ext cx="137160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46720" y="34747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363931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84BC4"/>
                </a:solidFill>
                <a:latin typeface="Segoe UI Semibold"/>
              </a:rPr>
              <a:t>Central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02336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Identity correlation, watchlist, RBAC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1">
                <a:solidFill>
                  <a:srgbClr val="616E82"/>
                </a:solidFill>
                <a:latin typeface="Segoe UI Semilight"/>
              </a:rPr>
              <a:t>Same codebase at every phase — pilot, district, regional, statewide. The 80,000-camera figures above are arithmetic projections from the ~30-camera pilot's measured per-stream cost, not a proven statewide result.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EVALUATION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Bahnschrift SemiBold"/>
              </a:rPr>
              <a:t>7 of 9 live test-case items done end-to-end on the real sandbox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16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1805940"/>
            <a:ext cx="182880" cy="182880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5087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Onboard ~50 cameras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5087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7992" y="1805940"/>
            <a:ext cx="182880" cy="182880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15087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Track by plate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5087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38744" y="1805940"/>
            <a:ext cx="182880" cy="182880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58784" y="15087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Timestamped route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4231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2720340"/>
            <a:ext cx="182880" cy="182880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24231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Watchlist cross-check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24231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07992" y="2720340"/>
            <a:ext cx="182880" cy="182880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24231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Real-time alert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24231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38744" y="2720340"/>
            <a:ext cx="182880" cy="182880"/>
          </a:xfrm>
          <a:prstGeom prst="ellipse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58784" y="24231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Continuity w/o plate (LEAD ONLY)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3375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7240" y="3634740"/>
            <a:ext cx="182880" cy="182880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3375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Real-footage OCR accuracy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79392" y="33375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07992" y="3634740"/>
            <a:ext cx="182880" cy="182880"/>
          </a:xfrm>
          <a:prstGeom prst="ellipse">
            <a:avLst/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8032" y="33375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§63-oriented evidence export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0144" y="33375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38744" y="3634740"/>
            <a:ext cx="182880" cy="182880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58784" y="33375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Camera ANPR-suitability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2A16B"/>
                </a:solidFill>
                <a:latin typeface="Segoe UI Semibold"/>
              </a:rPr>
              <a:t>Sandbox connectivity fixed &amp; confirmed 2026-09-04 — all 30 real cameras reachable end-to-end.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OPERATIONAL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Bahnschrift SemiBold"/>
              </a:rPr>
              <a:t>Every stakeholder gets less guesswork, not more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17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508760"/>
            <a:ext cx="3611880" cy="548640"/>
          </a:xfrm>
          <a:prstGeom prst="rect">
            <a:avLst/>
          </a:prstGeom>
          <a:solidFill>
            <a:srgbClr val="18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4592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Investigators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86000"/>
            <a:ext cx="3063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One search, even with bad reads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See why a link was made, and how weak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Provenance package for legal review — §63-oriented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50876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508760"/>
            <a:ext cx="3611880" cy="548640"/>
          </a:xfrm>
          <a:prstGeom prst="rect">
            <a:avLst/>
          </a:prstGeom>
          <a:solidFill>
            <a:srgbClr val="18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64592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86000"/>
            <a:ext cx="3063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Live GIS + gap analysis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Auditable alert lifecycle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Cross-camera route patterns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50876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508760"/>
            <a:ext cx="3611880" cy="548640"/>
          </a:xfrm>
          <a:prstGeom prst="rect">
            <a:avLst/>
          </a:prstGeom>
          <a:solidFill>
            <a:srgbClr val="18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64592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286000"/>
            <a:ext cx="3063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Retention enforced in code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Hashed credentials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No face recognition, by design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HONEST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Stated, not hidden —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18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508760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50876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§63 evidence certificate export — not yet built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508760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508760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150876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Face recognition — deliberate exclusion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496312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496312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49631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Full 80k-camera physical ingestion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96312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496312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49631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Live ONVIF device validated — mocked-tests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83864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483864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48386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WHEP low-latency preview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483864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483864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48386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Appearance-Re-ID accuracy — measured, not fixed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471416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471416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471416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Road-network routing &amp; pruning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Sources behind the claims in this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19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554480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627632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Gujarat Police Sentinel — official problem statement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627632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sentinel.gujarat.gov.in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212848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212848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286000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Only 3.8% of ANPR-detected violations reach enforcement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286000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CAG audit, 2025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71216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871216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944368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Appearance-link false-positive rate (41.87%), measured on real sandbox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944368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calibrate_embedding_threshold.py, project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529584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602736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VISWAS / NETRAM / TRINETRA scale (7,000+ cameras, 34 district centres)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602736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Gujarat Home Dept. public statements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87952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187952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261104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Commercial ANPR/tracking precedent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261104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Staqu JARVIS, Videonetics, Vehant, Innefu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4632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846320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919472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Field ANPR accuracy vs. lab benchmarks (71% misread rate cited)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919472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Business Insider / Gizmodo, Aug 2026; Davis Vanguard, Aug 2026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504688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504688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577840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Indian-traffic detector benchmark, evaluated not integrated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5577840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IISc AI for Integrated Mobility — UVH-26, arXiv 2511.02563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6163056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6163056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6236208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Data-protection design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6236208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Digital Personal Data Protection Act, 2023 — Section 17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6821424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6821424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6894576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UK National ANPR retention precedent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6894576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cited in RESEARCH_EXISTING_SYSTEMS.md §6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755294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616E82"/>
                </a:solidFill>
                <a:latin typeface="Segoe UI Semilight"/>
              </a:rPr>
              <a:t>Full citation detail and dated URLs: sentinel-solution/HLD.md and RESEARCH_EXISTING_SYSTEMS.md.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349240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349240"/>
            <a:ext cx="2926080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20040"/>
            <a:ext cx="256032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20040"/>
            <a:ext cx="31750" cy="256032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5623" y="320040"/>
            <a:ext cx="256032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839905" y="320040"/>
            <a:ext cx="31750" cy="256032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17373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Bahnschrift SemiBold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7889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B9C6DA"/>
                </a:solidFill>
                <a:latin typeface="Segoe UI Semilight"/>
              </a:rPr>
              <a:t>Gujarat already has the eyes and the detectors. Sentinel makes what they see explainable, auditable, and evidence-ready.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93192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F29A1E"/>
                </a:solidFill>
                <a:latin typeface="Segoe UI Semilight"/>
              </a:rPr>
              <a:t>—  </a:t>
            </a:r>
            <a:r>
              <a:rPr sz="1350">
                <a:solidFill>
                  <a:srgbClr val="B9C6DA"/>
                </a:solidFill>
                <a:latin typeface="Segoe UI Semilight"/>
              </a:rPr>
              <a:t>HLD + Scalability Strategy submitted alongside this deck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F29A1E"/>
                </a:solidFill>
                <a:latin typeface="Segoe UI Semilight"/>
              </a:rPr>
              <a:t>—  </a:t>
            </a:r>
            <a:r>
              <a:rPr sz="1350">
                <a:solidFill>
                  <a:srgbClr val="B9C6DA"/>
                </a:solidFill>
                <a:latin typeface="Segoe UI Semilight"/>
              </a:rPr>
              <a:t>Own-feed demo video per §9.3, real sandbox footage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F29A1E"/>
                </a:solidFill>
                <a:latin typeface="Segoe UI Semilight"/>
              </a:rPr>
              <a:t>—  </a:t>
            </a:r>
            <a:r>
              <a:rPr sz="1350">
                <a:solidFill>
                  <a:srgbClr val="B9C6DA"/>
                </a:solidFill>
                <a:latin typeface="Segoe UI Semilight"/>
              </a:rPr>
              <a:t>Every claim on this deck traces to verified, runnable code or a stated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5046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A96A8"/>
                </a:solidFill>
                <a:latin typeface="Segoe UI"/>
              </a:rPr>
              <a:t>SENTINEL // Gujarat Police Innovation Challenge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