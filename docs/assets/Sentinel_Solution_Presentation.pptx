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48640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48640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85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SENTINEL // CONTROL 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9659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0" b="1" i="0">
                <a:solidFill>
                  <a:srgbClr val="FFFFFF"/>
                </a:solidFill>
                <a:latin typeface="Bahnschrift SemiBold"/>
              </a:rPr>
              <a:t>SENTINEL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246120"/>
            <a:ext cx="9601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The accountability layer for Gujarat's existing CCTV estate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not another detector, not a replacement VMS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A96A8"/>
                </a:solidFill>
                <a:latin typeface="Segoe UI"/>
              </a:rPr>
              <a:t>Model 1 + Model 2 hybrid  —  Gujarat Police Innovation Challenge 2026, Phase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8756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₹51,00,000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01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463040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46304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146304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46304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Model &amp; justification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31136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231136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2231136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223113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231136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31136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231136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23113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Architecture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999232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999232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999232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299923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AI analytics pipeline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999232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2999232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999232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99923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Evidence tiers, measured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767328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3767328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3767328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376732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67328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767328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767328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76732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Watchlist &amp; alerts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535424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535424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4535424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453542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Security &amp; DPDP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535424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4535424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4535424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53542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Scalability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30352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30352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30352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530352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Test case &amp; benefits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530352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530352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30352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530352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Honest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Bahnschrift SemiBold"/>
              </a:rPr>
              <a:t>Gujarat has the cameras and the ANPR. It's an integration and evidence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02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7,078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Cameras already live under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VISWAS / NETRAM / TRINETRA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of ANPR-detected violations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reach enforcement — CAG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Departments,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independent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9A1E"/>
                </a:solidFill>
                <a:latin typeface="Bahnschrift Semi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Systems today that explain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why a cross-camera link was made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Mandatory live test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60520"/>
            <a:ext cx="2014423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160520"/>
            <a:ext cx="201442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27655" y="4160520"/>
            <a:ext cx="1537106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27655" y="4160520"/>
            <a:ext cx="15371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Track a 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9353" y="4160520"/>
            <a:ext cx="1855317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9353" y="4160520"/>
            <a:ext cx="185531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9262" y="4160520"/>
            <a:ext cx="2173528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9262" y="4160520"/>
            <a:ext cx="217352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87382" y="4160520"/>
            <a:ext cx="169621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87382" y="4160520"/>
            <a:ext cx="16962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The accountability layer — not another vehicle-tracking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03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NOT the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8600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“An AI that tracks vehicles across cameras even when the plate is unreadable”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Inventing ANPR or cross-camera tracking (already Staqu, Videonetics, Vehant, BriefCam)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1554480"/>
            <a:ext cx="5532120" cy="28346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C9B7"/>
                </a:solidFill>
                <a:latin typeface="Segoe UI Semibold"/>
              </a:rPr>
              <a:t>THE actual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An open, vendor-neutral layer over VISWAS / TRINETRA / NETRAM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Makes every cross-camera inference explainable, every query purpose-bound, every camera's ANPR fitness measurable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616E82"/>
                </a:solidFill>
                <a:latin typeface="Segoe UI Semilight"/>
              </a:rPr>
              <a:t>Gujarat already runs VISWAS/NETRAM/TRINETRA at 7,000+ cameras. CAG's own 2025 audit found the gap is integration and evidentiary usability, not detection — only 3.8% of ANPR-detected violations reach enforcement. A jury with that knowledge asks “what did you invent?” — honesty about what is and isn't proven is the stronger pitch here, not a bigger tracking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Model 1 + Model 2 + Model 3 — a real hybrid, built and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04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01</a:t>
            </a:r>
          </a:p>
        </p:txBody>
      </p:sp>
      <p:sp>
        <p:nvSpPr>
          <p:cNvPr id="14" name="Oval 13"/>
          <p:cNvSpPr/>
          <p:nvPr/>
        </p:nvSpPr>
        <p:spPr>
          <a:xfrm>
            <a:off x="369417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Registry &amp; GIS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Mandatory foundation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744321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Unified Viewing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Direct integration, no middleware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1119225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VMS Federation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Built &amp; tested — Sentinel + NYC Open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16E82"/>
                </a:solidFill>
                <a:latin typeface="Segoe UI Semilight"/>
              </a:rPr>
              <a:t>“Combine two or more models” is the problem statement's own definition of a hybrid — we claim credit only for what is built and verified. Model 3 federates our own data with a second, real, independently-operated public dataset (not a second Gujarat system); Model 4 (state-level central VMS/command centre) stays a documented roadmap, not built this cycle.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The genuine innovation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05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4475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616E82"/>
                </a:solidFill>
                <a:latin typeface="Segoe UI Semilight"/>
              </a:rPr>
              <a:t>Not a stronger tracking claim — a governance layer that refuses to let inference pass as fact.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Evidence tiers, enforced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CONFIRMED / PROBABLE / LEAD ONLY — a LEAD ONLY link can never be exported as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19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Observed vs. inferred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Route gaps are filled honestly — never shown as confirmed fact.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Governed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watchlist hit is a live, attributable investigation item.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9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“Why linked?”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match shows its method and score, including when that score is weak.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One flow, today and at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06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81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2A16B"/>
                </a:solidFill>
                <a:latin typeface="Segoe UI Semibold"/>
              </a:rPr>
              <a:t>PILOT — BUILT &amp; VERIFIED</a:t>
            </a:r>
          </a:p>
        </p:txBody>
      </p:sp>
      <p:sp>
        <p:nvSpPr>
          <p:cNvPr id="13" name="Terminator 12"/>
          <p:cNvSpPr/>
          <p:nvPr/>
        </p:nvSpPr>
        <p:spPr>
          <a:xfrm>
            <a:off x="548640" y="1691640"/>
            <a:ext cx="1481328" cy="914400"/>
          </a:xfrm>
          <a:prstGeom prst="flowChartTerminator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Departments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29968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cess 14"/>
          <p:cNvSpPr/>
          <p:nvPr/>
        </p:nvSpPr>
        <p:spPr>
          <a:xfrm>
            <a:off x="2465222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Catalogue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46550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cess 16"/>
          <p:cNvSpPr/>
          <p:nvPr/>
        </p:nvSpPr>
        <p:spPr>
          <a:xfrm>
            <a:off x="4381804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Stream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Manager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63132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edefined Process 18"/>
          <p:cNvSpPr/>
          <p:nvPr/>
        </p:nvSpPr>
        <p:spPr>
          <a:xfrm>
            <a:off x="6298386" y="1691640"/>
            <a:ext cx="1481328" cy="914400"/>
          </a:xfrm>
          <a:prstGeom prst="flowChartPredefined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AI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Pipeline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9714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gnetic Disk 20"/>
          <p:cNvSpPr/>
          <p:nvPr/>
        </p:nvSpPr>
        <p:spPr>
          <a:xfrm>
            <a:off x="8214968" y="1691640"/>
            <a:ext cx="1481328" cy="914400"/>
          </a:xfrm>
          <a:prstGeom prst="flowChartMagneticDisk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Event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6296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splay 22"/>
          <p:cNvSpPr/>
          <p:nvPr/>
        </p:nvSpPr>
        <p:spPr>
          <a:xfrm>
            <a:off x="10131550" y="1691640"/>
            <a:ext cx="1481328" cy="914400"/>
          </a:xfrm>
          <a:prstGeom prst="flowChartDisplay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API +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A93A3"/>
                </a:solidFill>
                <a:latin typeface="Segoe UI Semibold"/>
              </a:rPr>
              <a:t>PRODUCTION ROADMAP — DOCUMENTED, NOT BUILT THIS WEEK</a:t>
            </a:r>
          </a:p>
        </p:txBody>
      </p:sp>
      <p:sp>
        <p:nvSpPr>
          <p:cNvPr id="25" name="Cloud 24"/>
          <p:cNvSpPr/>
          <p:nvPr/>
        </p:nvSpPr>
        <p:spPr>
          <a:xfrm>
            <a:off x="54864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Regional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Media Fabric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loud 26"/>
          <p:cNvSpPr/>
          <p:nvPr/>
        </p:nvSpPr>
        <p:spPr>
          <a:xfrm>
            <a:off x="341376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Kafka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Event Bus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8264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loud 28"/>
          <p:cNvSpPr/>
          <p:nvPr/>
        </p:nvSpPr>
        <p:spPr>
          <a:xfrm>
            <a:off x="627888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Govt DBs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(query, don't copy)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4776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loud 30"/>
          <p:cNvSpPr/>
          <p:nvPr/>
        </p:nvSpPr>
        <p:spPr>
          <a:xfrm>
            <a:off x="914400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Governance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Plane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28800" y="2656840"/>
            <a:ext cx="0" cy="1087120"/>
          </a:xfrm>
          <a:prstGeom prst="line">
            <a:avLst/>
          </a:prstGeom>
          <a:ln w="15875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Core principle: centralize metadata, events, identity, and governance — not every raw video frame.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80,000 cameras of raw video ≈ 160 Gbps sustained. Structured events instead ≈ 640 Mbps.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Built to the sandbox's own rulebook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07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TCP-forced RTSP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Never UDP — avoids corrupt frames across NAT/firewalls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6704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PTS-driven timing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CAP_PROP_FPS is never trusted for velocity/dwell math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Backoff reconnect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2s → 30s cap, never a tight retry loop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2832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Discontinuity-aware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Recording loop points reset tracker state, not corrupt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Catalogue-only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No hardcoded camera URLs — IDs can change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4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ONVIF-targeted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584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Vendor-neutral standard for real heterogeneous cameras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One clock authority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Cross-camera timing never assumes NTP-synced legacy cameras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2832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Department tagging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Bulk, manual, and API onboarding, protocol-independent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AI VIDEO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Detection through cross-camera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08 / 20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YOLOv8n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1965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2562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Locate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188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YOLOv11 (trained)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22904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928872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Enhance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5136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CLAHE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6152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532120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PaddleOCR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135368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Track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1632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ByteTrack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32648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73861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Re-ID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Colour hist.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3589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34186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Identity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812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Plate-first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3447288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Verified</a:t>
            </a:r>
          </a:p>
        </p:txBody>
      </p:sp>
      <p:sp>
        <p:nvSpPr>
          <p:cNvPr id="34" name="Oval 33"/>
          <p:cNvSpPr/>
          <p:nvPr/>
        </p:nvSpPr>
        <p:spPr>
          <a:xfrm>
            <a:off x="1920240" y="3447288"/>
            <a:ext cx="146304" cy="146304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488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Partial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 Semibold"/>
              </a:rPr>
              <a:t>Also captured per sighting: colour, type, dimensions, dwell/speed/direction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348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16E82"/>
                </a:solidFill>
                <a:latin typeface="Segoe UI Semilight"/>
              </a:rPr>
              <a:t>Not built: make/model classification — no open-source Indian-market model exists; stated, not faked.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 i="0">
                <a:solidFill>
                  <a:srgbClr val="12A16B"/>
                </a:solidFill>
                <a:latin typeface="Segoe UI Semilight"/>
              </a:rPr>
              <a:t>Real-footage result: a real sandbox vehicle's plate (GJ01RP6128) read correctly and confidently on camera cam06, verified through the actual production accept-logic. A single-camera read, stated as exactly that — not evidence of cross-camera tracking.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EVIDENCE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We measured our own weakest link — and refuse to hide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09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2A16B"/>
                </a:solidFill>
                <a:latin typeface="Segoe UI Semibold"/>
              </a:rPr>
              <a:t>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of 12,257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This sighting read and validated its own plate.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29A1E"/>
                </a:solidFill>
                <a:latin typeface="Segoe UI Semibold"/>
              </a:rPr>
              <a:t>PROBABLE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plate_upgrade links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 plate here, but linked by within-camera track continuity from one that read.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E04A4A"/>
                </a:solidFill>
                <a:latin typeface="Segoe UI Semibold"/>
              </a:rPr>
              <a:t>LEAD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12,251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appearance-only or anonymous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41.87% measured false-positive rate. Not exportable as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D1628"/>
                </a:solidFill>
                <a:latin typeface="Segoe UI Semibold"/>
              </a:rPr>
              <a:t>Only CONFIRMED is exportable. PROBABLE is deliberately excluded too — an export is where a hedge stops being visible.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light"/>
              </a:rPr>
              <a:t>Real query over the live sentinel.db, not a projection. The appearance encoder carrying 97.8% of cross-camera links is a colour-histogram model we ourselves measured at a 41.87% false-positive rate on real confirmed-different-vehicle pairs — so the system labels that class LEAD ONLY and blocks its export, rather than presenting it as a tracked vehicle.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Observed vs. inferred — never conflated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10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4320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29A1E"/>
                </a:solidFill>
                <a:latin typeface="Segoe UI Semibold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plausible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5312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9204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3892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4088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04A4A"/>
                </a:solidFill>
                <a:latin typeface="Segoe UI Semibold"/>
              </a:rPr>
              <a:t>INFERRED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not direct — flagged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8972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3660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16E82"/>
                </a:solidFill>
                <a:latin typeface="Segoe UI Semilight"/>
              </a:rPr>
              <a:t>Straight-line distance + time-gap feasibility between sightings — a lead, never presented as fact. A high implied speed flags “not a direct drive.” Appearance-only links carry the same discipline: labelled LEAD ONLY, shown with their score, and never silently upgraded to CONFIRMED.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297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D1628"/>
                </a:solidFill>
                <a:latin typeface="Segoe UI Semibold"/>
              </a:rPr>
              <a:t>Deliberately roadmap, not built: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Road-network (OSM) routing — Gujarat's minor-road coverage is incomplete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Predictive next-camera pruning — 80k-scale value, not observable at a 50-camera pilot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WATCHLIST CORRELATION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 lead, not a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11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NEW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1188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ACKNOWLEDGED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4652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RESOLVED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288036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 w="1587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13639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DISMISSED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0120" y="2468880"/>
            <a:ext cx="2834640" cy="411480"/>
          </a:xfrm>
          <a:prstGeom prst="line">
            <a:avLst/>
          </a:prstGeom>
          <a:ln w="19050">
            <a:solidFill>
              <a:srgbClr val="E04A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36118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How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Watchlist match → alert, instantly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Only server-declared transitions are legal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Every move records who, and when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“Why was this linked?”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023360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Plate 50% / appearance 35% / recency 15%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A transparency aid, not a calibrated probability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Low-confidence links are never equal-weighted with a confirmed hit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Security, RBAC &amp; DPDP-aligned posture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12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 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Genuine 401/403 — not decoration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No face recognition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Deliberate — DPDP risk + documented bias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7532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24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Purpose-bound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Every query logs user, purpose, case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416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Data minimization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No face embeddings, anywhere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2628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Enforced retention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Purges in code, not policy-on-paper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532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4224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Found &amp; fixed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SSRF gap closed during 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DPDP §17 exempts law-enforcement processing — designed as if the Act's substantive obligations apply anyway.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Open source, end to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13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&amp;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FastAPI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SQLAlchemy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PostgreSQL / PostGIS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4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4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Computer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9584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OpenCV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9584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9584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YOLOv8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9584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PaddleOCR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9584" y="4105656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9584" y="4105656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ByteTrack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Frontend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7648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Leaflet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7648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hls.js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42832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42832" y="1508760"/>
            <a:ext cx="2679192" cy="502920"/>
          </a:xfrm>
          <a:prstGeom prst="rect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5712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25712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Kafka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25712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25712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MediaMTX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25712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25712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pgvector / 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Meets the hackathon's Open Source Requirement in full.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SCALABILITY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~30-camera pilot → ~80,000 statewide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14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~4,000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GPU-class edge units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at full build-out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29A1E"/>
                </a:solidFill>
                <a:latin typeface="Bahnschrift SemiBold"/>
              </a:rPr>
              <a:t>640 Mbps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Structured events —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not 160 Gbps raw video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Storage tiers: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hot / warm / cold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Phased rollout stages,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same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RTSP + inference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6052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9768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Regional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Re-ID, media relay — NETRAM-aligned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0956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04672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Central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Identity correlation, watchlist, RBAC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Same codebase at every phase — pilot, district, regional, statewide. The 80,000-camera figures above are arithmetic projections from the ~30-camera pilot's measured per-stream cost, not a proven statewide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EVALUATION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Live test case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15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7992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Track by 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38744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8784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27203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27203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8744" y="2720340"/>
            <a:ext cx="182880" cy="182880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Continuity w/o plate (LEAD ONLY)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3375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7240" y="36347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33375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Real-footage OCR accuracy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33375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07992" y="3634740"/>
            <a:ext cx="182880" cy="182880"/>
          </a:xfrm>
          <a:prstGeom prst="ellipse">
            <a:avLst/>
          </a:prstGeom>
          <a:solidFill>
            <a:srgbClr val="E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8032" y="33375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§63-oriented evidence export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33375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38744" y="3634740"/>
            <a:ext cx="182880" cy="182880"/>
          </a:xfrm>
          <a:prstGeom prst="ellipse">
            <a:avLst/>
          </a:prstGeom>
          <a:solidFill>
            <a:srgbClr val="E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58784" y="33375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Camera ANPR-suitability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A16B"/>
                </a:solidFill>
                <a:latin typeface="Segoe UI Semibold"/>
              </a:rPr>
              <a:t>Sandbox connectivity fixed &amp; confirmed 2026-09-04 — all 30 real cameras reachable end-to-end.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OPERATIONAL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Who this helps, and 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16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Investigators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One search, even with bad reads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See why a link was made, and how weak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Provenance package for legal review — §63-oriented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Live GIS + gap analysis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Auditable alert lifecycle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Cross-camera route patterns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Retention enforced in code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Hashed credentials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No face recognition, by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HONEST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Stated, not hidden —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17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§63 evidence certificate export — not yet built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Camera ANPR-suitability scoring — not yet built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Face recognition — deliberate exclusion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Full 80k-camera physical ingestion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Live ONVIF device validated — mocked-tests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WHEP low-latency preview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Appearance-Re-ID accuracy — measured, not fixed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Road-network routing &amp; pruning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Sources behind the claims in this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18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27632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Gujarat Police Sentinel — official problem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627632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sentinel.gujarat.gov.in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128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212848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286000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Only 3.8% of ANPR-detected violations reach 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286000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CAG audit, 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871216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871216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944368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Appearance-link false-positive rate (41.87%), measured on real sandbox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944368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calibrate_embedding_threshold.py, project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29584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9584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02736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VISWAS / NETRAM / TRINETRA scale (7,000+ cameras, 34 district centres)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602736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Gujarat Home Dept. public statements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87952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187952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261104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Commercial ANPR/tracking precedent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261104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Staqu JARVIS, Videonetics, Vehant, Innefu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846320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19472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Field ANPR accuracy vs. lab benchmarks (71% misread rate cited)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919472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Business Insider / Gizmodo, Aug 2026; Davis Vanguard, Aug 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0468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504688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77840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Indian-traffic detector benchmark, evaluated not integrated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5577840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IISc AI for Integrated Mobility — UVH-26, arXiv 2511.02563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6163056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6163056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6236208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Data-protection design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6236208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Digital Personal Data Protection Act, 2023 — Section 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6821424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6821424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6894576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UK National ANPR retention precedent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6894576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cited in RESEARCH_EXISTING_SYSTEMS.md §6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755294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616E82"/>
                </a:solidFill>
                <a:latin typeface="Segoe UI Semilight"/>
              </a:rPr>
              <a:t>Full citation detail and dated URLs: sentinel-solution/HLD.md and RESEARCH_EXISTING_SYSTEMS.md.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34924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34924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Bahnschrift SemiBold"/>
              </a:rPr>
              <a:t>Thank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9C6DA"/>
                </a:solidFill>
                <a:latin typeface="Segoe UI Semilight"/>
              </a:rPr>
              <a:t>Gujarat already has the eyes and the detectors. Sentinel makes what they see explainable, auditable, and evidence-ready.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3192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HLD + Scalability Strategy submitted alongside this deck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Own-feed demo video per §9.3, real sandbox footage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Every claim on this deck traces to verified, runnable code or a stated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6A8"/>
                </a:solidFill>
                <a:latin typeface="Segoe UI"/>
              </a:rPr>
              <a:t>SENTINEL // Gujarat Police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