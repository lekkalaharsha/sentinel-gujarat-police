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49240"/>
            <a:ext cx="12191695" cy="317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B82F6"/>
                </a:solidFill>
                <a:latin typeface="Calibri"/>
              </a:rPr>
              <a:t>SENTINEL //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 i="0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30632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C7D3E3"/>
                </a:solidFill>
                <a:latin typeface="Calibri"/>
              </a:rPr>
              <a:t>An open, vendor-neutral interoperability and intelligence layer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 i="0">
                <a:solidFill>
                  <a:srgbClr val="C7D3E3"/>
                </a:solidFill>
                <a:latin typeface="Calibri"/>
              </a:rPr>
              <a:t>for Gujarat's 26-department CCTV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3B82F6"/>
                </a:solidFill>
                <a:latin typeface="Calibri"/>
              </a:rPr>
              <a:t>Model 1 (Centralised CCTV Registry &amp; GIS) + Model 2 (Unified Viewing &amp; Metadata Analytics) — hybrid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Gujarat Police Innovation Challenge 2026 — Phase 1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59893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₹51,00,000 Prize Pool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01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7899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01  The problem — 26 departments, ~80,000 cameras, no unified cross-reference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02  Model choice &amp; justification — why Model 1 + Model 2, not a from-scratch platform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03  Solution overview — objectives and the genuine innovation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04  Architecture — pilot tier built today, production tier documented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05  AI video analytics pipeline — detection through cross-camera identity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06  The core differentiator — ANPR failure ≠ tracking failure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07  Geo-temporal route reconstruction — observed vs. inferred, honestly labelled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08  Watchlist correlation &amp; governed alert lifecycle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09  Security, RBAC &amp; DPDP-aligned governance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10  Scalability toward 80,000 cameras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11  Evaluation test case status &amp; operational benefits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3B82F6"/>
                </a:solidFill>
                <a:latin typeface="Calibri"/>
              </a:rPr>
              <a:t>■ </a:t>
            </a:r>
            <a:r>
              <a:rPr sz="1550" b="0">
                <a:solidFill>
                  <a:srgbClr val="141B2A"/>
                </a:solidFill>
                <a:latin typeface="Calibri"/>
              </a:rPr>
              <a:t>12  Honest gaps and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26 departments. ~80,000 cameras. No shared intelligence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577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■ </a:t>
            </a:r>
            <a:r>
              <a:rPr sz="1500" b="0">
                <a:solidFill>
                  <a:srgbClr val="141B2A"/>
                </a:solidFill>
                <a:latin typeface="Calibri"/>
              </a:rPr>
              <a:t>Mixed analog and IP cameras, ~1,000 km apart — border districts to Valsad, Dahod, Dwarka</a:t>
            </a:r>
          </a:p>
          <a:p>
            <a:pPr marL="0" indent="0"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■ </a:t>
            </a:r>
            <a:r>
              <a:rPr sz="1500" b="0">
                <a:solidFill>
                  <a:srgbClr val="141B2A"/>
                </a:solidFill>
                <a:latin typeface="Calibri"/>
              </a:rPr>
              <a:t>Heterogeneous vendors, formats, and VMS platforms across departments</a:t>
            </a:r>
          </a:p>
          <a:p>
            <a:pPr marL="0" indent="0"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■ </a:t>
            </a:r>
            <a:r>
              <a:rPr sz="1500" b="0">
                <a:solidFill>
                  <a:srgbClr val="141B2A"/>
                </a:solidFill>
                <a:latin typeface="Calibri"/>
              </a:rPr>
              <a:t>Retention varies 7–15+ days, cloud or local, department by department</a:t>
            </a:r>
          </a:p>
          <a:p>
            <a:pPr marL="0" indent="0"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■ </a:t>
            </a:r>
            <a:r>
              <a:rPr sz="1500" b="0">
                <a:solidFill>
                  <a:srgbClr val="141B2A"/>
                </a:solidFill>
                <a:latin typeface="Calibri"/>
              </a:rPr>
              <a:t>No unified way to monitor, search, or cross-reference footage with law-enforcement databases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5166360" cy="4480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916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Mandatory live test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4884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350" b="1">
                <a:solidFill>
                  <a:srgbClr val="1D4ED8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Onboard ~50 heterogeneous simulated camera feeds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350" b="1">
                <a:solidFill>
                  <a:srgbClr val="1D4ED8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Track a designated vehicle by registration number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350" b="1">
                <a:solidFill>
                  <a:srgbClr val="1D4ED8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Produce complete, timestamped, location-wise movement history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350" b="1">
                <a:solidFill>
                  <a:srgbClr val="1D4ED8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Cross-reference every sighting against a watchlist</a:t>
            </a:r>
          </a:p>
          <a:p>
            <a:pPr marL="0" indent="0">
              <a:lnSpc>
                <a:spcPct val="108000"/>
              </a:lnSpc>
              <a:spcAft>
                <a:spcPts val="1300"/>
              </a:spcAft>
            </a:pPr>
            <a:r>
              <a:rPr sz="1350" b="1">
                <a:solidFill>
                  <a:srgbClr val="1D4ED8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Fire automated real-time alerts on a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We are not proposing to replace what already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C2626"/>
                </a:solidFill>
                <a:latin typeface="Calibri"/>
              </a:rPr>
              <a:t>What we do NOT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262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“We built Gujarat's CCTV command platform”</a:t>
            </a:r>
          </a:p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C262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Inventing detection, ANPR, or cross-camera tracking — already shipped by Staqu, Videonetics, Vehant, Innefu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6A34A"/>
                </a:solidFill>
                <a:latin typeface="Calibri"/>
              </a:rPr>
              <a:t>What we actually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6A34A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An interoperability and intelligence layer above existing VISWAS / TRINETRA / NETRAM infrastructure</a:t>
            </a:r>
          </a:p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6A34A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A genuinely new, open, explainable vehicle-identity-resolution layer on top of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Gujarat already operates VISWAS/NETRAM/TRINETRA: 7,000+ cameras, 34 district NETRAM centres, Phase-II adding ~10,500 more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A jury with real Gujarat Police domain knowledge will reasonably ask “what did you invent?” if we pitch a from-scratch platform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Framing honestly is not a weaker pitch — it is what “innovative hybrid architecture with operational value” (an explicit bonus criterion) actually rewards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SOLUTION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Model 1 + Model 2 hybrid — with a documented Model 3/4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MODEL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424"/>
                </a:solidFill>
                <a:latin typeface="Calibri"/>
              </a:rPr>
              <a:t>Centralised Registry &amp; GIS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154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Calibri"/>
              </a:rPr>
              <a:t>Mandatory foundation — camera inventory, GIS mapping, health monitoring, gap analysis, 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087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737360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MODEL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9572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424"/>
                </a:solidFill>
                <a:latin typeface="Calibri"/>
              </a:rPr>
              <a:t>Unified Viewing &amp;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63240"/>
            <a:ext cx="3154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Calibri"/>
              </a:rPr>
              <a:t>Direct RTSP/catalogue integration, no middleware — ANPR, event tagging, searchable movement records,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5087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1737360"/>
            <a:ext cx="695858" cy="237744"/>
          </a:xfrm>
          <a:prstGeom prst="roundRect">
            <a:avLst>
              <a:gd name="adj" fmla="val 8000"/>
            </a:avLst>
          </a:prstGeom>
          <a:solidFill>
            <a:srgbClr val="5B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031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MODEL 3 /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9572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1424"/>
                </a:solidFill>
                <a:latin typeface="Calibri"/>
              </a:rPr>
              <a:t>Federation → Central AI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063240"/>
            <a:ext cx="3154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6677"/>
                </a:solidFill>
                <a:latin typeface="Calibri"/>
              </a:rPr>
              <a:t>Documented production evolution path — Kafka event bus, regional media fabric, statewide AI fabric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Why hybrid, not Model 4 (Central VMS)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“Combine elements from two or more models” is the problem statement's own definition of hybrid (§7); an innovative hybrid is an explicit bonus criterion (§10)</a:t>
            </a:r>
          </a:p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We claim credit only for what is genuinely built and verified end-to-end — Model 3/4 elements are a documented roadmap, not implemented, and we say 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genuine innovation: an open, explainable identity-resolution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5B6677"/>
                </a:solidFill>
                <a:latin typeface="Calibri"/>
              </a:rPr>
              <a:t>A persistent vehicle entity assembled from uncertain observations — plate-OCR confidence, appearance similarity, temporal feasibility, recency — where every cross-camera link records why it was made.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82296" cy="1783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ANPR failure ≠ tracking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A vehicle is never dropped for an unreadable plate — it's tracked by colour/type/appearance until any camera reads its plate, then the whole chain resolves retroactively.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3172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331720"/>
            <a:ext cx="82296" cy="1783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14600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Geo-temporal route reconstruction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953512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Movement history interleaves OBSERVED sightings with honestly-labelled INFERRED camera-less segments — inferred is never presented as confirmed.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9768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82296" cy="1783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80560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Governed alert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19472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Watchlist hits are live investigation items (new → acknowledged → resolved/dismissed), not fire-and-forget log lines — every transition is attributed and audited.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9768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297680"/>
            <a:ext cx="82296" cy="1783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480560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“Why was this linked?” explainability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919472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Every sighting records its link method, similarity score, and time gap — a transparency aid, not a black box, and a direct mitigation for operator automation 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High-level architecture — pilot tier built, production tier documented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0020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PILOT / EDGE TIER — THIS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41B2A"/>
                </a:solidFill>
                <a:latin typeface="Calibri"/>
              </a:rPr>
              <a:t>26 Departments (incl. existing VISWAS / TRINETRA / NETRAM)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9572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2374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41B2A"/>
                </a:solidFill>
                <a:latin typeface="Calibri"/>
              </a:rPr>
              <a:t>Catalogue client → live camera discovery (cameras.json)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0779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358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41B2A"/>
                </a:solidFill>
                <a:latin typeface="Calibri"/>
              </a:rPr>
              <a:t>Stream Manager → 1 RTSP worker/camera, TCP-forced, PTS-timed, backoff reconnect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19856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478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41B2A"/>
                </a:solidFill>
                <a:latin typeface="Calibri"/>
              </a:rPr>
              <a:t>Analytics pipeline: YOLOv8 detect → plate region → enhance → PaddleOCR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5993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41B2A"/>
                </a:solidFill>
                <a:latin typeface="Calibri"/>
              </a:rPr>
              <a:t>→ ByteTrack (within-camera) → Re-ID embedding → cross-camera identity 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43984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41B2A"/>
                </a:solidFill>
                <a:latin typeface="Calibri"/>
              </a:rPr>
              <a:t>Event store: VehicleEvent, VehicleIdentity, Registry, Watchlist, Alert, AuditLog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56048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8406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41B2A"/>
                </a:solidFill>
                <a:latin typeface="Calibri"/>
              </a:rPr>
              <a:t>→ Watchlist engine + alerts   → RBAC-gated REST API (FastAPI)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6811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961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141B2A"/>
                </a:solidFill>
                <a:latin typeface="Calibri"/>
              </a:rPr>
              <a:t>React frontend: GIS map, live HLS view, movement timeline + explainability, ops console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417320"/>
            <a:ext cx="5349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1600200"/>
            <a:ext cx="695858" cy="237744"/>
          </a:xfrm>
          <a:prstGeom prst="roundRect">
            <a:avLst>
              <a:gd name="adj" fmla="val 8000"/>
            </a:avLst>
          </a:prstGeom>
          <a:solidFill>
            <a:srgbClr val="5B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60020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B6677"/>
                </a:solidFill>
                <a:latin typeface="Calibri"/>
              </a:rPr>
              <a:t>PRODUCTION TARGET — DOCUMENTED, NOT BUILT THIS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148840"/>
            <a:ext cx="48006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5B6677"/>
                </a:solidFill>
                <a:latin typeface="Calibri"/>
              </a:rPr>
              <a:t>■ </a:t>
            </a:r>
            <a:r>
              <a:rPr sz="1250" b="0">
                <a:solidFill>
                  <a:srgbClr val="5B6677"/>
                </a:solidFill>
                <a:latin typeface="Calibri"/>
              </a:rPr>
              <a:t>Regional media fabric (MediaMTX/go2rtc) between connectors and AI fabric</a:t>
            </a:r>
          </a:p>
          <a:p>
            <a:pPr marL="0" indent="0"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5B6677"/>
                </a:solidFill>
                <a:latin typeface="Calibri"/>
              </a:rPr>
              <a:t>■ </a:t>
            </a:r>
            <a:r>
              <a:rPr sz="1250" b="0">
                <a:solidFill>
                  <a:srgbClr val="5B6677"/>
                </a:solidFill>
                <a:latin typeface="Calibri"/>
              </a:rPr>
              <a:t>Kafka event bus for horizontal ingestion scaling</a:t>
            </a:r>
          </a:p>
          <a:p>
            <a:pPr marL="0" indent="0"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5B6677"/>
                </a:solidFill>
                <a:latin typeface="Calibri"/>
              </a:rPr>
              <a:t>■ </a:t>
            </a:r>
            <a:r>
              <a:rPr sz="1250" b="0">
                <a:solidFill>
                  <a:srgbClr val="5B6677"/>
                </a:solidFill>
                <a:latin typeface="Calibri"/>
              </a:rPr>
              <a:t>AI fabric: Detector → ByteTrack → ANPR → Re-ID confirmation, sharded by region</a:t>
            </a:r>
          </a:p>
          <a:p>
            <a:pPr marL="0" indent="0"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5B6677"/>
                </a:solidFill>
                <a:latin typeface="Calibri"/>
              </a:rPr>
              <a:t>■ </a:t>
            </a:r>
            <a:r>
              <a:rPr sz="1250" b="0">
                <a:solidFill>
                  <a:srgbClr val="5B6677"/>
                </a:solidFill>
                <a:latin typeface="Calibri"/>
              </a:rPr>
              <a:t>Central event plane: PostgreSQL/PostGIS at statewide scale</a:t>
            </a:r>
          </a:p>
          <a:p>
            <a:pPr marL="0" indent="0"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5B6677"/>
                </a:solidFill>
                <a:latin typeface="Calibri"/>
              </a:rPr>
              <a:t>■ </a:t>
            </a:r>
            <a:r>
              <a:rPr sz="1250" b="0">
                <a:solidFill>
                  <a:srgbClr val="5B6677"/>
                </a:solidFill>
                <a:latin typeface="Calibri"/>
              </a:rPr>
              <a:t>Authorized government DB queries (VAHAN, SARTHI, eGujCop, CCTNS) — query, don't copy</a:t>
            </a:r>
          </a:p>
          <a:p>
            <a:pPr marL="0" indent="0">
              <a:lnSpc>
                <a:spcPct val="120000"/>
              </a:lnSpc>
              <a:spcAft>
                <a:spcPts val="1400"/>
              </a:spcAft>
            </a:pPr>
            <a:r>
              <a:rPr sz="1250" b="1">
                <a:solidFill>
                  <a:srgbClr val="5B6677"/>
                </a:solidFill>
                <a:latin typeface="Calibri"/>
              </a:rPr>
              <a:t>■ </a:t>
            </a:r>
            <a:r>
              <a:rPr sz="1250" b="0">
                <a:solidFill>
                  <a:srgbClr val="5B6677"/>
                </a:solidFill>
                <a:latin typeface="Calibri"/>
              </a:rPr>
              <a:t>Governance plane: department-scoped RBAC, purpose-bound audit, retention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62356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0B1424"/>
                </a:solidFill>
                <a:latin typeface="Calibri"/>
              </a:rPr>
              <a:t>Core principle: centralize metadata/events/identity/governance — not every raw video frame.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Heterogeneous camera &amp; VMS integration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Discovery, never hardcoding — every camera URL derived from the live catalogue; camera IDs and availability can change, the catalogue is the contract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RTSP forced over TCP; mixed H.264/H.265 tolerated — join-time decoder warnings logged, never treated as fatal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Timing correctness — every frame carries PTS (CAP_PROP_POS_MSEC); CAP_PROP_FPS is never trusted for velocity/dwell math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Resilience — exponential-backoff reconnect (2s→30s cap), never a tight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Scene-discontinuity handling — the sandbox's recording loop point is detected as PTS-backward and triggers an explicit tracker-state reset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ONVIF as the vendor-neutral abstraction target for real heterogeneous department cameras (sandbox exposes plain RTSP directly)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Cross-camera timing uses one server-side clock at persist-time — never assumes 80,000 legacy cameras share NTP sync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350" b="1">
                <a:solidFill>
                  <a:srgbClr val="3B82F6"/>
                </a:solidFill>
                <a:latin typeface="Calibri"/>
              </a:rPr>
              <a:t>■ </a:t>
            </a:r>
            <a:r>
              <a:rPr sz="1350" b="0">
                <a:solidFill>
                  <a:srgbClr val="141B2A"/>
                </a:solidFill>
                <a:latin typeface="Calibri"/>
              </a:rPr>
              <a:t>Department tagging via CameraRegistry — bulk, manual, and API onboarding, independent of protocol/vendor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AI VIDEO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pipeline — detection through cross-camera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08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7218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47218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47218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11064240" cy="4892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Vehicle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47088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YOLOv8n (Ultralytics, pretrained COCO)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1892808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72284"/>
            <a:ext cx="110642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36292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Plate localization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336292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Heuristic crop — fine-tuned localizer evaluated, not integrated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4120" y="2382012"/>
            <a:ext cx="695858" cy="237744"/>
          </a:xfrm>
          <a:prstGeom prst="roundRect">
            <a:avLst>
              <a:gd name="adj" fmla="val 8000"/>
            </a:avLst>
          </a:prstGeom>
          <a:solidFill>
            <a:srgbClr val="D9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61488"/>
            <a:ext cx="11064240" cy="4892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25496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Plate enhancement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825496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Grayscale + CLAHE + upscale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2871216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50692"/>
            <a:ext cx="110642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14700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OCR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314700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PaddleOCR 2.9.1 (pinned)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3360420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39896"/>
            <a:ext cx="11064240" cy="4892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803904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Within-camera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803904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Real ByteTrack, one persistent tracker per camera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3849624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29100"/>
            <a:ext cx="110642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293108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Appearance Re-ID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293108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HSV colour histogram + cosine similarity (FastReID is the documented upgrade)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4338828"/>
            <a:ext cx="695858" cy="237744"/>
          </a:xfrm>
          <a:prstGeom prst="roundRect">
            <a:avLst>
              <a:gd name="adj" fmla="val 8000"/>
            </a:avLst>
          </a:prstGeom>
          <a:solidFill>
            <a:srgbClr val="D9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18304"/>
            <a:ext cx="11064240" cy="4892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782312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Cross-camera identity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782312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Plate-first, appearance-second resolver — retroactive plate upgrade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04120" y="4828032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07508"/>
            <a:ext cx="1106424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271516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Make/model 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5271516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Not implemented — no open-source Indian-market model exists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04120" y="5317236"/>
            <a:ext cx="1075334" cy="23774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GAP — STATED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696712"/>
            <a:ext cx="11064240" cy="489204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760720"/>
            <a:ext cx="256032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Motion attributes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760720"/>
            <a:ext cx="6583680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41B2A"/>
                </a:solidFill>
                <a:latin typeface="Calibri"/>
              </a:rPr>
              <a:t>Dwell / speed / direction from PTS-driven track path (image-plane, not calibrated)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04120" y="5806440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295644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B6677"/>
                </a:solidFill>
                <a:latin typeface="Calibri"/>
              </a:rPr>
              <a:t>Real-world caveat, stated plainly: OCR verified against clean synthetic text; real Indian-plate footage accuracy is the single most jury-visible unmeasured number.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CORE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ANPR failure ≠ tracking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09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Camera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75334" cy="23774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GAP — STATED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B2A"/>
                </a:solidFill>
                <a:latin typeface="Calibri"/>
              </a:rPr>
              <a:t>Plate unreadable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Logged by colour + type + appearance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260604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600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7830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Camera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2148840"/>
            <a:ext cx="1075334" cy="23774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GAP — STATED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146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B2A"/>
                </a:solidFill>
                <a:latin typeface="Calibri"/>
              </a:rPr>
              <a:t>Plate unreadable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7180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Matched to Camera 1 by appearance — same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60604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00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7830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Camera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148840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146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41B2A"/>
                </a:solidFill>
                <a:latin typeface="Calibri"/>
              </a:rPr>
              <a:t>Plate READ: GJ01AB1234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97180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Identity upgraded — retroactively resolves Cameras 1 &amp; 2 too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4340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0B1424"/>
                </a:solidFill>
                <a:latin typeface="Calibri"/>
              </a:rPr>
              <a:t>Verified with a real (non-mocked) three-camera scenario: two deliberately unreadable plates, one successful read — all three sightings correctly merge into one VehicleIdentity, including the two anonymous ones. This is the mechanism the mandatory test case's “complete timestamped movement history” actually depends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BONUS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Geo-temporal route reconstruction — observed vs. inferred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10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6677"/>
                </a:solidFill>
                <a:latin typeface="Calibri"/>
              </a:rPr>
              <a:t>Between two confirmed sightings, movement history interleaves honestly-labelled INFERRED camera-less segments — straight-line (haversine) distance + time-gap feasibility, never presented as observed fact.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4"/>
                </a:solidFill>
                <a:latin typeface="Calibri"/>
              </a:rPr>
              <a:t>cam01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Calibri"/>
              </a:rPr>
              <a:t>OBSERVED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60604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BF1E3"/>
          </a:solidFill>
          <a:ln w="15875">
            <a:solidFill>
              <a:srgbClr val="D97A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7004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INFERRED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03580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D97A06"/>
                </a:solidFill>
                <a:latin typeface="Calibri"/>
              </a:rPr>
              <a:t>plausible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4688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63347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4"/>
                </a:solidFill>
                <a:latin typeface="Calibri"/>
              </a:rPr>
              <a:t>cam03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3580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Calibri"/>
              </a:rPr>
              <a:t>OBSERVED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606040"/>
            <a:ext cx="1554480" cy="7772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67004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INFERRED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segment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03580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DC2626"/>
                </a:solidFill>
                <a:latin typeface="Calibri"/>
              </a:rPr>
              <a:t>not a direct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DC2626"/>
                </a:solidFill>
                <a:latin typeface="Calibri"/>
              </a:rPr>
              <a:t>drive — flagged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4688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63347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4"/>
                </a:solidFill>
                <a:latin typeface="Calibri"/>
              </a:rPr>
              <a:t>cam05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03580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Calibri"/>
              </a:rPr>
              <a:t>OBSERVED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B6677"/>
                </a:solidFill>
                <a:latin typeface="Calibri"/>
              </a:rPr>
              <a:t>A high implied speed between two sightings flags “not a direct drive” — an unmonitored detour, or possibly a different vehicle — as a lead, not a fact.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1424"/>
                </a:solidFill>
                <a:latin typeface="Calibri"/>
              </a:rPr>
              <a:t>Deliberately not built yet (roadmap, stated honestly)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5B6677"/>
                </a:solidFill>
                <a:latin typeface="Calibri"/>
              </a:rPr>
              <a:t>■ </a:t>
            </a:r>
            <a:r>
              <a:rPr sz="1250" b="0">
                <a:solidFill>
                  <a:srgbClr val="5B6677"/>
                </a:solidFill>
                <a:latin typeface="Calibri"/>
              </a:rPr>
              <a:t>Full road-network (OSM) travel-time routing — Gujarat's minor-road OSM coverage is incomplete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5B6677"/>
                </a:solidFill>
                <a:latin typeface="Calibri"/>
              </a:rPr>
              <a:t>■ </a:t>
            </a:r>
            <a:r>
              <a:rPr sz="1250" b="0">
                <a:solidFill>
                  <a:srgbClr val="5B6677"/>
                </a:solidFill>
                <a:latin typeface="Calibri"/>
              </a:rPr>
              <a:t>Forward “PREDICTED next-camera” pruning — valuable at 80k-camera scale, not observable at a 50-camera pilot; would only ever be a soft ranking hint, never a hard filter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WATCHLIST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Governed alert lifecycle — a lead, not a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11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0B1424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928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69164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93852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ACKNOWLEDGED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8928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69164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EAF6EC"/>
          </a:solidFill>
          <a:ln w="1587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3852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RESOLVED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83464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9718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DC2626"/>
                </a:solidFill>
                <a:latin typeface="Calibri"/>
              </a:rPr>
              <a:t>DISMISSED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DC2626"/>
                </a:solidFill>
                <a:latin typeface="Calibri"/>
              </a:rPr>
              <a:t>(false positive)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26060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B6677"/>
                </a:solidFill>
                <a:latin typeface="Calibri"/>
              </a:rPr>
              <a:t>↓ (also reachable from NEW)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How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■ </a:t>
            </a:r>
            <a:r>
              <a:rPr sz="1300" b="0">
                <a:solidFill>
                  <a:srgbClr val="141B2A"/>
                </a:solidFill>
                <a:latin typeface="Calibri"/>
              </a:rPr>
              <a:t>Every persisted VehicleEvent with a resolved plate is checked against the watchlist at write time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■ </a:t>
            </a:r>
            <a:r>
              <a:rPr sz="1300" b="0">
                <a:solidFill>
                  <a:srgbClr val="141B2A"/>
                </a:solidFill>
                <a:latin typeface="Calibri"/>
              </a:rPr>
              <a:t>A match creates an Alert immediately — polled by the operator's Alerts panel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■ </a:t>
            </a:r>
            <a:r>
              <a:rPr sz="1300" b="0">
                <a:solidFill>
                  <a:srgbClr val="141B2A"/>
                </a:solidFill>
                <a:latin typeface="Calibri"/>
              </a:rPr>
              <a:t>Only server-declared transitions are permitted; every transition records who acted and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3832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B1424"/>
                </a:solidFill>
                <a:latin typeface="Calibri"/>
              </a:rPr>
              <a:t>“Why was this linked?” 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840480"/>
            <a:ext cx="5349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■ </a:t>
            </a:r>
            <a:r>
              <a:rPr sz="1300" b="0">
                <a:solidFill>
                  <a:srgbClr val="141B2A"/>
                </a:solidFill>
                <a:latin typeface="Calibri"/>
              </a:rPr>
              <a:t>Every sighting records link method, similarity score, and time gap at the moment of resolution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■ </a:t>
            </a:r>
            <a:r>
              <a:rPr sz="1300" b="0">
                <a:solidFill>
                  <a:srgbClr val="141B2A"/>
                </a:solidFill>
                <a:latin typeface="Calibri"/>
              </a:rPr>
              <a:t>Fused, transparently-weighted score (plate 50% / appearance 35% / recency 15%) — a transparency aid, not a calibrated probability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</a:pPr>
            <a:r>
              <a:rPr sz="1300" b="1">
                <a:solidFill>
                  <a:srgbClr val="3B82F6"/>
                </a:solidFill>
                <a:latin typeface="Calibri"/>
              </a:rPr>
              <a:t>■ </a:t>
            </a:r>
            <a:r>
              <a:rPr sz="1300" b="0">
                <a:solidFill>
                  <a:srgbClr val="141B2A"/>
                </a:solidFill>
                <a:latin typeface="Calibri"/>
              </a:rPr>
              <a:t>Direct mitigation for automation bias: low-confidence links are visually distinguished, never equal-weighted with a plate-confirmed hit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Security, RBAC &amp; DPDP-aligned privacy posture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12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73152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9105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424"/>
                </a:solidFill>
                <a:latin typeface="Calibri"/>
              </a:rPr>
              <a:t>Real RBAC, not decoration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Every route requires an API key mapping to viewer / investigator / admin; missing or insufficient access gets a genuine 401/403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73152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4553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424"/>
                </a:solidFill>
                <a:latin typeface="Calibri"/>
              </a:rPr>
              <a:t>Purpose-bound, audited 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93008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Every history/search query logs the authenticated user, stated purpose, and case ID — never a client-supplied string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73152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001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424"/>
                </a:solidFill>
                <a:latin typeface="Calibri"/>
              </a:rPr>
              <a:t>Enforced retention, not policy-on-paper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47488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Vehicle events/identities/alerts purge automatically after a configurable window; audit logs are kept longer than the data they describe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4630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63040"/>
            <a:ext cx="73152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59105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424"/>
                </a:solidFill>
                <a:latin typeface="Calibri"/>
              </a:rPr>
              <a:t>No face recognition — deliberate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38528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DPDP risk and NIST-documented demographic bias; not required by the mandatory vehicle test case — a governance choice, not an oversight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017520"/>
            <a:ext cx="73152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14553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424"/>
                </a:solidFill>
                <a:latin typeface="Calibri"/>
              </a:rPr>
              <a:t>Data minimization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93008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No face embeddings computed or stored anywhere — the system identifies what vehicle was seen where, not who someone 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572000"/>
            <a:ext cx="73152" cy="1371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00016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B1424"/>
                </a:solidFill>
                <a:latin typeface="Calibri"/>
              </a:rPr>
              <a:t>Found and fixed, not shipped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47488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5B6677"/>
                </a:solidFill>
                <a:latin typeface="Calibri"/>
              </a:rPr>
              <a:t>An SSRF gap in the HLS proxy was found during development and closed with a same-host validation check, verified both ways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0B1424"/>
                </a:solidFill>
                <a:latin typeface="Calibri"/>
              </a:rPr>
              <a:t>DPDP Act §17 exempts law-enforcement processing — we design as if the Act's substantive obligations apply anyway.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Open-source stack, per the hackathon's requirement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13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B1424"/>
                </a:solidFill>
                <a:latin typeface="Calibri"/>
              </a:rPr>
              <a:t>Backend &amp;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FastAPI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SQLAlchemy (PostgreSQL-ready)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SQLite (dev) → PostgreSQL/PostGIS (prod)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0876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7373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B1424"/>
                </a:solidFill>
                <a:latin typeface="Calibri"/>
              </a:rPr>
              <a:t>Computer vision &amp;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42316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OpenCV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YOLOv8 (Ultralytics)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PaddleOCR 2.9.1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ByteTrack (Ultralytics-integrated)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0876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7373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B1424"/>
                </a:solidFill>
                <a:latin typeface="Calibr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42316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React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Leaflet (GIS map)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hls.js (live view)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50876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737360"/>
            <a:ext cx="22494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1" i="0">
                <a:solidFill>
                  <a:srgbClr val="0B1424"/>
                </a:solidFill>
                <a:latin typeface="Calibri"/>
              </a:rPr>
              <a:t>Documented for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42316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5B6677"/>
                </a:solidFill>
                <a:latin typeface="Calibri"/>
              </a:rPr>
              <a:t>■ </a:t>
            </a:r>
            <a:r>
              <a:rPr sz="1200" b="0">
                <a:solidFill>
                  <a:srgbClr val="5B6677"/>
                </a:solidFill>
                <a:latin typeface="Calibri"/>
              </a:rPr>
              <a:t>Kafka / RabbitMQ (event bus)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5B6677"/>
                </a:solidFill>
                <a:latin typeface="Calibri"/>
              </a:rPr>
              <a:t>■ </a:t>
            </a:r>
            <a:r>
              <a:rPr sz="1200" b="0">
                <a:solidFill>
                  <a:srgbClr val="5B6677"/>
                </a:solidFill>
                <a:latin typeface="Calibri"/>
              </a:rPr>
              <a:t>MediaMTX / go2rtc (media fabric)</a:t>
            </a:r>
          </a:p>
          <a:p>
            <a:pPr marL="0" indent="0">
              <a:lnSpc>
                <a:spcPct val="115000"/>
              </a:lnSpc>
              <a:spcAft>
                <a:spcPts val="1200"/>
              </a:spcAft>
            </a:pPr>
            <a:r>
              <a:rPr sz="1200" b="1">
                <a:solidFill>
                  <a:srgbClr val="5B6677"/>
                </a:solidFill>
                <a:latin typeface="Calibri"/>
              </a:rPr>
              <a:t>■ </a:t>
            </a:r>
            <a:r>
              <a:rPr sz="1200" b="0">
                <a:solidFill>
                  <a:srgbClr val="5B6677"/>
                </a:solidFill>
                <a:latin typeface="Calibri"/>
              </a:rPr>
              <a:t>pgvector / Milvus (Re-ID vector search)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B6677"/>
                </a:solidFill>
                <a:latin typeface="Calibri"/>
              </a:rPr>
              <a:t>All components are open source, meeting the hackathon's Open Source Requirement in full.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From ~30-camera pilot to ~80,000 cameras statewide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14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Compute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41B2A"/>
                </a:solidFill>
                <a:latin typeface="Calibri"/>
              </a:rPr>
              <a:t>Edge (RTSP + inference) → Regional (Re-ID, media relay, NETRAM-aligned) → Central (identity correlation, watchlist, RBAC, GIS)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GPU sizing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41B2A"/>
                </a:solidFill>
                <a:latin typeface="Calibri"/>
              </a:rPr>
              <a:t>~20 cameras/GPU (mobile-scale models) → ~4,000 GPU-class edge units at full 80,000-camera build-out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Bandwidth 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41B2A"/>
                </a:solidFill>
                <a:latin typeface="Calibri"/>
              </a:rPr>
              <a:t>Raw video centrally: ~160 Gbps / ~1.7 PB/day — not credible. Structured events instead: ~640 Mbps sustained — three orders of magnitude smaller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Storage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2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41B2A"/>
                </a:solidFill>
                <a:latin typeface="Calibri"/>
              </a:rPr>
              <a:t>Hot (7–15 days, PostgreSQL/PostGIS) → Warm (90 days–1 year, partitioned/TimescaleDB) → Cold (compliance archive, object storage — not raw video by default)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9260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HA / DR &amp;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29184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41B2A"/>
                </a:solidFill>
                <a:latin typeface="Calibri"/>
              </a:rPr>
              <a:t>Stateless API tier behind a load balancer; stream-manager sharded by camera range; PostgreSQL primary/replica failover; regional outage never blocks central watchlist/RBAC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434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Phased rollout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709160"/>
            <a:ext cx="5394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141B2A"/>
                </a:solidFill>
                <a:latin typeface="Calibri"/>
              </a:rPr>
              <a:t>Pilot (this submission) → District pilot → Regional rollout (Kafka introduced) → Statewide — same codebase at every phase, not a rebuild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5B6677"/>
                </a:solidFill>
                <a:latin typeface="Calibri"/>
              </a:rPr>
              <a:t>Same code, different DATABASE_URL and instance count at every phase — nothing here is a throwaway demo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EVALUATION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Live test case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15 /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7218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47218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Status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47218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11064240" cy="56692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65376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Onboard ~50 heterogeneous cameras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865376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80" b="0" i="0">
                <a:solidFill>
                  <a:srgbClr val="141B2A"/>
                </a:solidFill>
                <a:latin typeface="Calibri"/>
              </a:rPr>
              <a:t>Pipeline verified; sandbox connectivity fixed &amp; confirmed — all 30 real cameras reachable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1938528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50008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32304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Track a designated vehicle by 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432304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80" b="0" i="0">
                <a:solidFill>
                  <a:srgbClr val="141B2A"/>
                </a:solidFill>
                <a:latin typeface="Calibri"/>
              </a:rPr>
              <a:t>Core path verified end-to-end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4120" y="2505456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16936"/>
            <a:ext cx="11064240" cy="56692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99232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Complete timestamped, location-wise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99232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80" b="0" i="0">
                <a:solidFill>
                  <a:srgbClr val="141B2A"/>
                </a:solidFill>
                <a:latin typeface="Calibri"/>
              </a:rPr>
              <a:t>Per-camera timeline + geo-temporal OBSERVED/INFERRED reconstruction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3072384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83864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66160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Cross-reference vs. watchlist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566160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80" b="0" i="0">
                <a:solidFill>
                  <a:srgbClr val="141B2A"/>
                </a:solidFill>
                <a:latin typeface="Calibri"/>
              </a:rPr>
              <a:t>Own representative watchlist + real-time alert on match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3639312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50792"/>
            <a:ext cx="11064240" cy="56692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133088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Automated real-time alert on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133088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80" b="0" i="0">
                <a:solidFill>
                  <a:srgbClr val="141B2A"/>
                </a:solidFill>
                <a:latin typeface="Calibri"/>
              </a:rPr>
              <a:t>Governed alert lifecycle, verified through real HTTP routes with auth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4206240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617720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700016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Cross-camera continuity when plate unreadable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700016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80" b="0" i="0">
                <a:solidFill>
                  <a:srgbClr val="141B2A"/>
                </a:solidFill>
                <a:latin typeface="Calibri"/>
              </a:rPr>
              <a:t>Our differentiator — appearance-second identity resolution, retroactive upgrade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4773168"/>
            <a:ext cx="771753" cy="23774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VERIFIED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84648"/>
            <a:ext cx="11064240" cy="56692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66944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B1424"/>
                </a:solidFill>
                <a:latin typeface="Calibri"/>
              </a:rPr>
              <a:t>Real-footage OCR accuracy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266944"/>
            <a:ext cx="5486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80" b="0" i="0">
                <a:solidFill>
                  <a:srgbClr val="141B2A"/>
                </a:solidFill>
                <a:latin typeface="Calibri"/>
              </a:rPr>
              <a:t>Verified against clean synthetic text only — real government footage unmeasured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04120" y="5340096"/>
            <a:ext cx="695858" cy="237744"/>
          </a:xfrm>
          <a:prstGeom prst="roundRect">
            <a:avLst>
              <a:gd name="adj" fmla="val 8000"/>
            </a:avLst>
          </a:prstGeom>
          <a:solidFill>
            <a:srgbClr val="D97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PARTIAL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OPERATIONAL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Who this actually helps, and 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16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361188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36776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For investigators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94560"/>
            <a:ext cx="3108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One search across every onboarded camera, even when some plate reads fail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Explainable link trail — see why a sighting was attached, not just that it was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Purpose-bound, audited queries — defensible in court, not just in a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61188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36776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For command /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194560"/>
            <a:ext cx="3108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Live GIS registry with health-colour-coded cameras and gap analysis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Governed alert queue — acknowledgement and false-positive dismissal are first-class, auditable actions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Cross-camera route reconstruction surfaces patterns a single-camera view never would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08760"/>
            <a:ext cx="3611880" cy="5029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636776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For governance &amp;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194560"/>
            <a:ext cx="3108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Enforced data retention in code, not policy-on-paper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RBAC and hashed credentials — a database leak doesn't hand out working access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200" b="1">
                <a:solidFill>
                  <a:srgbClr val="3B82F6"/>
                </a:solidFill>
                <a:latin typeface="Calibri"/>
              </a:rPr>
              <a:t>■ </a:t>
            </a:r>
            <a:r>
              <a:rPr sz="1200" b="0">
                <a:solidFill>
                  <a:srgbClr val="141B2A"/>
                </a:solidFill>
                <a:latin typeface="Calibri"/>
              </a:rPr>
              <a:t>Deliberate exclusion of face recognition keeps the system inside its narrowest defensible legal claim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HONEST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Stated, not hidden —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B6677"/>
                </a:solidFill>
                <a:latin typeface="Calibri"/>
              </a:rPr>
              <a:t>17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400" b="1">
                <a:solidFill>
                  <a:srgbClr val="D97A0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Face recognition &amp; fingerprint/biometric integration — deliberate DPDP/bias exclusion, not a missing feature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400" b="1">
                <a:solidFill>
                  <a:srgbClr val="D97A0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Full 80,000-camera physical ingestion — the control plane is demonstrated to scale independently instead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400" b="1">
                <a:solidFill>
                  <a:srgbClr val="D97A0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Real per-vendor VMS federation middleware (Model 3) — a half-built federation bus would be worse than an honest roadmap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400" b="1">
                <a:solidFill>
                  <a:srgbClr val="D97A0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WHEP low-latency preview — HLS-via-authenticated-proxy is the working live-view path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400" b="1">
                <a:solidFill>
                  <a:srgbClr val="D97A0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Real Indian-plate OCR accuracy — verified on synthetic text only; real government footage is unmeasured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400" b="1">
                <a:solidFill>
                  <a:srgbClr val="D97A0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Department-scoped RBAC — single flat role set today; schema already supports the extension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400" b="1">
                <a:solidFill>
                  <a:srgbClr val="D97A0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Fine-tuned Indian-specific detector / plate localizer — evaluated (IISc UVH-26, morsetechlab) and documented, not swapped in this build window</a:t>
            </a:r>
          </a:p>
          <a:p>
            <a:pPr marL="0" indent="0">
              <a:lnSpc>
                <a:spcPct val="120000"/>
              </a:lnSpc>
              <a:spcAft>
                <a:spcPts val="1600"/>
              </a:spcAft>
            </a:pPr>
            <a:r>
              <a:rPr sz="1400" b="1">
                <a:solidFill>
                  <a:srgbClr val="D97A06"/>
                </a:solidFill>
                <a:latin typeface="Calibri"/>
              </a:rPr>
              <a:t>■ </a:t>
            </a:r>
            <a:r>
              <a:rPr sz="1400" b="0">
                <a:solidFill>
                  <a:srgbClr val="141B2A"/>
                </a:solidFill>
                <a:latin typeface="Calibri"/>
              </a:rPr>
              <a:t>Road-network (OSM) routing &amp; predictive next-camera pruning — roadmap; value is at 80k scale, not the 50-camera pilot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49240"/>
            <a:ext cx="12191695" cy="317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25146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7D3E3"/>
                </a:solidFill>
                <a:latin typeface="Calibri"/>
              </a:rPr>
              <a:t>An honest, verified, open-source interoperability layer — built to extend Gujarat's existing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7D3E3"/>
                </a:solidFill>
                <a:latin typeface="Calibri"/>
              </a:rPr>
              <a:t>CCTV infrastructure, not replace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3977639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■ </a:t>
            </a:r>
            <a:r>
              <a:rPr sz="1400" b="0">
                <a:solidFill>
                  <a:srgbClr val="C7D3E3"/>
                </a:solidFill>
                <a:latin typeface="Calibri"/>
              </a:rPr>
              <a:t>Technical Proposal (HLD) and Scalability Strategy submitted alongside this presentation</a:t>
            </a:r>
          </a:p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■ </a:t>
            </a:r>
            <a:r>
              <a:rPr sz="1400" b="0">
                <a:solidFill>
                  <a:srgbClr val="C7D3E3"/>
                </a:solidFill>
                <a:latin typeface="Calibri"/>
              </a:rPr>
              <a:t>Own-feed and government-feed demonstration videos submitted per §9.3/§9.4</a:t>
            </a:r>
          </a:p>
          <a:p>
            <a:pPr marL="0" indent="0"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■ </a:t>
            </a:r>
            <a:r>
              <a:rPr sz="1400" b="0">
                <a:solidFill>
                  <a:srgbClr val="C7D3E3"/>
                </a:solidFill>
                <a:latin typeface="Calibri"/>
              </a:rPr>
              <a:t>Source available for review — every claim in this deck traces to verified, runnable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5532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B6677"/>
                </a:solidFill>
                <a:latin typeface="Calibri"/>
              </a:rPr>
              <a:t>Sentinel — Gujarat Police Innovation Challenge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